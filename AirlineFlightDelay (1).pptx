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Departure Delay Distribution (bins)</a:t>
            </a:r>
          </a:p>
        </c:rich>
      </c:tx>
      <c:overlay val="0"/>
    </c:title>
    <c:autoTitleDeleted val="0"/>
    <c:plotArea>
      <c:layout/>
      <c:barChart>
        <c:barDir val="col"/>
        <c:grouping val="clustered"/>
        <c:varyColors val="0"/>
        <c:ser>
          <c:idx val="0"/>
          <c:order val="0"/>
          <c:tx>
            <c:strRef>
              <c:f>Sheet1!$B$1</c:f>
              <c:strCache>
                <c:ptCount val="1"/>
                <c:pt idx="0">
                  <c:v>Flight Count</c:v>
                </c:pt>
              </c:strCache>
            </c:strRef>
          </c:tx>
          <c:spPr>
            <a:solidFill>
              <a:srgbClr val="4361EE"/>
            </a:solidFill>
            <a:effectLst/>
          </c:spPr>
          <c:invertIfNegative val="0"/>
          <c:cat>
            <c:strRef>
              <c:f>Sheet1!$A$2:$A$12</c:f>
              <c:strCache>
                <c:ptCount val="11"/>
                <c:pt idx="0">
                  <c:v>-30</c:v>
                </c:pt>
                <c:pt idx="1">
                  <c:v>-20</c:v>
                </c:pt>
                <c:pt idx="2">
                  <c:v>-10</c:v>
                </c:pt>
                <c:pt idx="3">
                  <c:v>-5</c:v>
                </c:pt>
                <c:pt idx="4">
                  <c:v>0</c:v>
                </c:pt>
                <c:pt idx="5">
                  <c:v>5</c:v>
                </c:pt>
                <c:pt idx="6">
                  <c:v>10</c:v>
                </c:pt>
                <c:pt idx="7">
                  <c:v>15</c:v>
                </c:pt>
                <c:pt idx="8">
                  <c:v>20</c:v>
                </c:pt>
                <c:pt idx="9">
                  <c:v>25</c:v>
                </c:pt>
                <c:pt idx="10">
                  <c:v>30</c:v>
                </c:pt>
              </c:strCache>
            </c:strRef>
          </c:cat>
          <c:val>
            <c:numRef>
              <c:f>Sheet1!$B$2:$B$12</c:f>
              <c:numCache>
                <c:formatCode>General</c:formatCode>
                <c:ptCount val="11"/>
                <c:pt idx="0">
                  <c:v>120</c:v>
                </c:pt>
                <c:pt idx="1">
                  <c:v>280</c:v>
                </c:pt>
                <c:pt idx="2">
                  <c:v>850</c:v>
                </c:pt>
                <c:pt idx="3">
                  <c:v>1400</c:v>
                </c:pt>
                <c:pt idx="4">
                  <c:v>3200</c:v>
                </c:pt>
                <c:pt idx="5">
                  <c:v>2100</c:v>
                </c:pt>
                <c:pt idx="6">
                  <c:v>1350</c:v>
                </c:pt>
                <c:pt idx="7">
                  <c:v>820</c:v>
                </c:pt>
                <c:pt idx="8">
                  <c:v>450</c:v>
                </c:pt>
                <c:pt idx="9">
                  <c:v>220</c:v>
                </c:pt>
                <c:pt idx="10">
                  <c:v>90</c:v>
                </c:pt>
              </c:numCache>
            </c:numRef>
          </c:val>
          <c:extLst>
            <c:ext xmlns:c16="http://schemas.microsoft.com/office/drawing/2014/chart" uri="{C3380CC4-5D6E-409C-BE32-E72D297353CC}">
              <c16:uniqueId val="{00000000-1DAF-44E6-B651-C82AB73DE7F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306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05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Feature Correlation with Arrival Delay</a:t>
            </a:r>
          </a:p>
        </c:rich>
      </c:tx>
      <c:overlay val="0"/>
    </c:title>
    <c:autoTitleDeleted val="0"/>
    <c:plotArea>
      <c:layout/>
      <c:barChart>
        <c:barDir val="bar"/>
        <c:grouping val="clustered"/>
        <c:varyColors val="0"/>
        <c:ser>
          <c:idx val="0"/>
          <c:order val="0"/>
          <c:tx>
            <c:strRef>
              <c:f>Sheet1!$B$1</c:f>
              <c:strCache>
                <c:ptCount val="1"/>
                <c:pt idx="0">
                  <c:v>Correlation with Arrival Delay</c:v>
                </c:pt>
              </c:strCache>
            </c:strRef>
          </c:tx>
          <c:spPr>
            <a:solidFill>
              <a:srgbClr val="00D4FF"/>
            </a:solidFill>
            <a:effectLst/>
          </c:spPr>
          <c:invertIfNegative val="0"/>
          <c:dPt>
            <c:idx val="0"/>
            <c:invertIfNegative val="0"/>
            <c:bubble3D val="0"/>
            <c:extLst>
              <c:ext xmlns:c16="http://schemas.microsoft.com/office/drawing/2014/chart" uri="{C3380CC4-5D6E-409C-BE32-E72D297353CC}">
                <c16:uniqueId val="{00000001-2088-4898-A037-EBF56CD68E27}"/>
              </c:ext>
            </c:extLst>
          </c:dPt>
          <c:dPt>
            <c:idx val="1"/>
            <c:invertIfNegative val="0"/>
            <c:bubble3D val="0"/>
            <c:spPr>
              <a:solidFill>
                <a:srgbClr val="7B2FBE"/>
              </a:solidFill>
              <a:effectLst/>
            </c:spPr>
            <c:extLst>
              <c:ext xmlns:c16="http://schemas.microsoft.com/office/drawing/2014/chart" uri="{C3380CC4-5D6E-409C-BE32-E72D297353CC}">
                <c16:uniqueId val="{00000003-2088-4898-A037-EBF56CD68E27}"/>
              </c:ext>
            </c:extLst>
          </c:dPt>
          <c:dPt>
            <c:idx val="2"/>
            <c:invertIfNegative val="0"/>
            <c:bubble3D val="0"/>
            <c:spPr>
              <a:solidFill>
                <a:srgbClr val="06D6A0"/>
              </a:solidFill>
              <a:effectLst/>
            </c:spPr>
            <c:extLst>
              <c:ext xmlns:c16="http://schemas.microsoft.com/office/drawing/2014/chart" uri="{C3380CC4-5D6E-409C-BE32-E72D297353CC}">
                <c16:uniqueId val="{00000005-2088-4898-A037-EBF56CD68E27}"/>
              </c:ext>
            </c:extLst>
          </c:dPt>
          <c:dPt>
            <c:idx val="3"/>
            <c:invertIfNegative val="0"/>
            <c:bubble3D val="0"/>
            <c:spPr>
              <a:solidFill>
                <a:srgbClr val="FFD166"/>
              </a:solidFill>
              <a:effectLst/>
            </c:spPr>
            <c:extLst>
              <c:ext xmlns:c16="http://schemas.microsoft.com/office/drawing/2014/chart" uri="{C3380CC4-5D6E-409C-BE32-E72D297353CC}">
                <c16:uniqueId val="{00000007-2088-4898-A037-EBF56CD68E27}"/>
              </c:ext>
            </c:extLst>
          </c:dPt>
          <c:dPt>
            <c:idx val="4"/>
            <c:invertIfNegative val="0"/>
            <c:bubble3D val="0"/>
            <c:spPr>
              <a:solidFill>
                <a:srgbClr val="4361EE"/>
              </a:solidFill>
              <a:effectLst/>
            </c:spPr>
            <c:extLst>
              <c:ext xmlns:c16="http://schemas.microsoft.com/office/drawing/2014/chart" uri="{C3380CC4-5D6E-409C-BE32-E72D297353CC}">
                <c16:uniqueId val="{00000009-2088-4898-A037-EBF56CD68E27}"/>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Dep Delay</c:v>
                </c:pt>
                <c:pt idx="1">
                  <c:v>Taxi Out</c:v>
                </c:pt>
                <c:pt idx="2">
                  <c:v>Air Time</c:v>
                </c:pt>
                <c:pt idx="3">
                  <c:v>Distance</c:v>
                </c:pt>
                <c:pt idx="4">
                  <c:v>Taxi In</c:v>
                </c:pt>
              </c:strCache>
            </c:strRef>
          </c:cat>
          <c:val>
            <c:numRef>
              <c:f>Sheet1!$B$2:$B$6</c:f>
              <c:numCache>
                <c:formatCode>General</c:formatCode>
                <c:ptCount val="5"/>
                <c:pt idx="0">
                  <c:v>0.93</c:v>
                </c:pt>
                <c:pt idx="1">
                  <c:v>0.35</c:v>
                </c:pt>
                <c:pt idx="2">
                  <c:v>0.18</c:v>
                </c:pt>
                <c:pt idx="3">
                  <c:v>0.12</c:v>
                </c:pt>
                <c:pt idx="4">
                  <c:v>0.28000000000000003</c:v>
                </c:pt>
              </c:numCache>
            </c:numRef>
          </c:val>
          <c:extLst>
            <c:ext xmlns:c16="http://schemas.microsoft.com/office/drawing/2014/chart" uri="{C3380CC4-5D6E-409C-BE32-E72D297353CC}">
              <c16:uniqueId val="{0000000A-2088-4898-A037-EBF56CD68E2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A306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05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FFFFF"/>
                </a:solidFill>
                <a:latin typeface="Arial"/>
              </a:defRPr>
            </a:pPr>
            <a:r>
              <a:rPr lang="en-IN" sz="1000" b="0" i="0" u="none" strike="noStrike">
                <a:solidFill>
                  <a:srgbClr val="FFFFFF"/>
                </a:solidFill>
                <a:latin typeface="Arial"/>
              </a:rPr>
              <a:t>Delay Category Split (%)</a:t>
            </a:r>
          </a:p>
        </c:rich>
      </c:tx>
      <c:overlay val="0"/>
    </c:title>
    <c:autoTitleDeleted val="0"/>
    <c:plotArea>
      <c:layout/>
      <c:doughnutChart>
        <c:varyColors val="1"/>
        <c:ser>
          <c:idx val="0"/>
          <c:order val="0"/>
          <c:tx>
            <c:strRef>
              <c:f>Sheet1!$B$1</c:f>
              <c:strCache>
                <c:ptCount val="1"/>
                <c:pt idx="0">
                  <c:v>Delay Causes</c:v>
                </c:pt>
              </c:strCache>
            </c:strRef>
          </c:tx>
          <c:spPr>
            <a:solidFill>
              <a:schemeClr val="accent1"/>
            </a:solidFill>
            <a:ln w="9525" cap="flat">
              <a:solidFill>
                <a:srgbClr val="F9F9F9"/>
              </a:solidFill>
              <a:prstDash val="solid"/>
              <a:round/>
            </a:ln>
            <a:effectLst/>
          </c:spPr>
          <c:dPt>
            <c:idx val="0"/>
            <c:bubble3D val="0"/>
            <c:spPr>
              <a:solidFill>
                <a:srgbClr val="4361EE"/>
              </a:solidFill>
              <a:effectLst/>
            </c:spPr>
            <c:extLst>
              <c:ext xmlns:c16="http://schemas.microsoft.com/office/drawing/2014/chart" uri="{C3380CC4-5D6E-409C-BE32-E72D297353CC}">
                <c16:uniqueId val="{00000001-8A8A-4D3C-8D8A-4BDFA341F5F0}"/>
              </c:ext>
            </c:extLst>
          </c:dPt>
          <c:dPt>
            <c:idx val="1"/>
            <c:bubble3D val="0"/>
            <c:spPr>
              <a:solidFill>
                <a:srgbClr val="00D4FF"/>
              </a:solidFill>
              <a:effectLst/>
            </c:spPr>
            <c:extLst>
              <c:ext xmlns:c16="http://schemas.microsoft.com/office/drawing/2014/chart" uri="{C3380CC4-5D6E-409C-BE32-E72D297353CC}">
                <c16:uniqueId val="{00000003-8A8A-4D3C-8D8A-4BDFA341F5F0}"/>
              </c:ext>
            </c:extLst>
          </c:dPt>
          <c:dPt>
            <c:idx val="2"/>
            <c:bubble3D val="0"/>
            <c:spPr>
              <a:solidFill>
                <a:srgbClr val="FFD166"/>
              </a:solidFill>
              <a:effectLst/>
            </c:spPr>
            <c:extLst>
              <c:ext xmlns:c16="http://schemas.microsoft.com/office/drawing/2014/chart" uri="{C3380CC4-5D6E-409C-BE32-E72D297353CC}">
                <c16:uniqueId val="{00000005-8A8A-4D3C-8D8A-4BDFA341F5F0}"/>
              </c:ext>
            </c:extLst>
          </c:dPt>
          <c:dPt>
            <c:idx val="3"/>
            <c:bubble3D val="0"/>
            <c:spPr>
              <a:solidFill>
                <a:srgbClr val="06D6A0"/>
              </a:solidFill>
              <a:effectLst/>
            </c:spPr>
            <c:extLst>
              <c:ext xmlns:c16="http://schemas.microsoft.com/office/drawing/2014/chart" uri="{C3380CC4-5D6E-409C-BE32-E72D297353CC}">
                <c16:uniqueId val="{00000007-8A8A-4D3C-8D8A-4BDFA341F5F0}"/>
              </c:ext>
            </c:extLst>
          </c:dPt>
          <c:dPt>
            <c:idx val="4"/>
            <c:bubble3D val="0"/>
            <c:spPr>
              <a:solidFill>
                <a:srgbClr val="7B2FBE"/>
              </a:solidFill>
              <a:effectLst/>
            </c:spPr>
            <c:extLst>
              <c:ext xmlns:c16="http://schemas.microsoft.com/office/drawing/2014/chart" uri="{C3380CC4-5D6E-409C-BE32-E72D297353CC}">
                <c16:uniqueId val="{00000009-8A8A-4D3C-8D8A-4BDFA341F5F0}"/>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A8A-4D3C-8D8A-4BDFA341F5F0}"/>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A8A-4D3C-8D8A-4BDFA341F5F0}"/>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A8A-4D3C-8D8A-4BDFA341F5F0}"/>
                </c:ext>
              </c:extLst>
            </c:dLbl>
            <c:dLbl>
              <c:idx val="3"/>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A8A-4D3C-8D8A-4BDFA341F5F0}"/>
                </c:ext>
              </c:extLst>
            </c:dLbl>
            <c:dLbl>
              <c:idx val="4"/>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A8A-4D3C-8D8A-4BDFA341F5F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Carrier</c:v>
                </c:pt>
                <c:pt idx="1">
                  <c:v>NAS</c:v>
                </c:pt>
                <c:pt idx="2">
                  <c:v>Weather</c:v>
                </c:pt>
                <c:pt idx="3">
                  <c:v>Late Aircraft</c:v>
                </c:pt>
                <c:pt idx="4">
                  <c:v>Security</c:v>
                </c:pt>
              </c:strCache>
            </c:strRef>
          </c:cat>
          <c:val>
            <c:numRef>
              <c:f>Sheet1!$B$2:$B$6</c:f>
              <c:numCache>
                <c:formatCode>General</c:formatCode>
                <c:ptCount val="5"/>
                <c:pt idx="0">
                  <c:v>30</c:v>
                </c:pt>
                <c:pt idx="1">
                  <c:v>25</c:v>
                </c:pt>
                <c:pt idx="2">
                  <c:v>10</c:v>
                </c:pt>
                <c:pt idx="3">
                  <c:v>30</c:v>
                </c:pt>
                <c:pt idx="4">
                  <c:v>5</c:v>
                </c:pt>
              </c:numCache>
            </c:numRef>
          </c:val>
          <c:extLst>
            <c:ext xmlns:c16="http://schemas.microsoft.com/office/drawing/2014/chart" uri="{C3380CC4-5D6E-409C-BE32-E72D297353CC}">
              <c16:uniqueId val="{0000000A-8A8A-4D3C-8D8A-4BDFA341F5F0}"/>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solidFill>
      <a:srgbClr val="1A205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IN" sz="1100" b="0" i="0" u="none" strike="noStrike">
                <a:solidFill>
                  <a:srgbClr val="FFFFFF"/>
                </a:solidFill>
                <a:latin typeface="Arial"/>
              </a:rPr>
              <a:t>R² Score</a:t>
            </a:r>
          </a:p>
        </c:rich>
      </c:tx>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4361EE"/>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Linear
Regression</c:v>
                </c:pt>
              </c:strCache>
            </c:strRef>
          </c:cat>
          <c:val>
            <c:numRef>
              <c:f>Sheet1!$B$2:$B$2</c:f>
              <c:numCache>
                <c:formatCode>General</c:formatCode>
                <c:ptCount val="1"/>
                <c:pt idx="0">
                  <c:v>0.92</c:v>
                </c:pt>
              </c:numCache>
            </c:numRef>
          </c:val>
          <c:extLst>
            <c:ext xmlns:c16="http://schemas.microsoft.com/office/drawing/2014/chart" uri="{C3380CC4-5D6E-409C-BE32-E72D297353CC}">
              <c16:uniqueId val="{00000000-2B84-4F79-91C5-59D4DC9712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2A306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2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05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796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320040" y="201168"/>
            <a:ext cx="2377440" cy="320040"/>
          </a:xfrm>
          <a:prstGeom prst="roundRect">
            <a:avLst>
              <a:gd name="adj" fmla="val 14286"/>
            </a:avLst>
          </a:prstGeom>
          <a:solidFill>
            <a:srgbClr val="4361EE">
              <a:alpha val="70000"/>
            </a:srgbClr>
          </a:solidFill>
          <a:ln w="12700">
            <a:solidFill>
              <a:srgbClr val="4361EE"/>
            </a:solidFill>
            <a:prstDash val="solid"/>
          </a:ln>
        </p:spPr>
      </p:sp>
      <p:sp>
        <p:nvSpPr>
          <p:cNvPr id="3" name="Text 1"/>
          <p:cNvSpPr/>
          <p:nvPr/>
        </p:nvSpPr>
        <p:spPr>
          <a:xfrm>
            <a:off x="320040" y="201168"/>
            <a:ext cx="2377440" cy="320040"/>
          </a:xfrm>
          <a:prstGeom prst="rect">
            <a:avLst/>
          </a:prstGeom>
          <a:noFill/>
          <a:ln/>
        </p:spPr>
        <p:txBody>
          <a:bodyPr wrap="square" rtlCol="0" anchor="ctr"/>
          <a:lstStyle/>
          <a:p>
            <a:pPr marL="0" indent="0" algn="ctr">
              <a:buNone/>
            </a:pPr>
            <a:r>
              <a:rPr lang="en-US" sz="700" b="1" dirty="0">
                <a:solidFill>
                  <a:srgbClr val="FFFFFF"/>
                </a:solidFill>
              </a:rPr>
              <a:t>GUIDE FOR DATA SCIENCE PROJECT</a:t>
            </a:r>
            <a:endParaRPr lang="en-US" sz="700" dirty="0"/>
          </a:p>
        </p:txBody>
      </p:sp>
      <p:sp>
        <p:nvSpPr>
          <p:cNvPr id="4" name="Text 2"/>
          <p:cNvSpPr/>
          <p:nvPr/>
        </p:nvSpPr>
        <p:spPr>
          <a:xfrm>
            <a:off x="320040" y="594360"/>
            <a:ext cx="5029200" cy="868680"/>
          </a:xfrm>
          <a:prstGeom prst="rect">
            <a:avLst/>
          </a:prstGeom>
          <a:noFill/>
          <a:ln/>
        </p:spPr>
        <p:txBody>
          <a:bodyPr wrap="square" rtlCol="0" anchor="ctr"/>
          <a:lstStyle/>
          <a:p>
            <a:pPr marL="0" indent="0">
              <a:buNone/>
            </a:pPr>
            <a:r>
              <a:rPr lang="en-US" sz="4800" b="1" dirty="0">
                <a:solidFill>
                  <a:srgbClr val="FFFFFF"/>
                </a:solidFill>
                <a:latin typeface="Arial" pitchFamily="34" charset="0"/>
                <a:ea typeface="Arial" pitchFamily="34" charset="-122"/>
                <a:cs typeface="Arial" pitchFamily="34" charset="-120"/>
              </a:rPr>
              <a:t>AIRLINE</a:t>
            </a:r>
            <a:endParaRPr lang="en-US" sz="4800" dirty="0"/>
          </a:p>
        </p:txBody>
      </p:sp>
      <p:sp>
        <p:nvSpPr>
          <p:cNvPr id="5" name="Text 3"/>
          <p:cNvSpPr/>
          <p:nvPr/>
        </p:nvSpPr>
        <p:spPr>
          <a:xfrm>
            <a:off x="320040" y="1417320"/>
            <a:ext cx="5029200" cy="868680"/>
          </a:xfrm>
          <a:prstGeom prst="rect">
            <a:avLst/>
          </a:prstGeom>
          <a:noFill/>
          <a:ln/>
        </p:spPr>
        <p:txBody>
          <a:bodyPr wrap="square" rtlCol="0" anchor="ctr"/>
          <a:lstStyle/>
          <a:p>
            <a:pPr marL="0" indent="0">
              <a:buNone/>
            </a:pPr>
            <a:endParaRPr lang="en-US" sz="4800" b="1" dirty="0">
              <a:solidFill>
                <a:srgbClr val="00D4FF"/>
              </a:solidFill>
              <a:latin typeface="Arial" pitchFamily="34" charset="0"/>
              <a:ea typeface="Arial" pitchFamily="34" charset="-122"/>
              <a:cs typeface="Arial" pitchFamily="34" charset="-120"/>
            </a:endParaRPr>
          </a:p>
          <a:p>
            <a:pPr marL="0" indent="0">
              <a:buNone/>
            </a:pPr>
            <a:r>
              <a:rPr lang="en-US" sz="4800" b="1" dirty="0">
                <a:solidFill>
                  <a:srgbClr val="00D4FF"/>
                </a:solidFill>
                <a:latin typeface="Arial" pitchFamily="34" charset="0"/>
                <a:ea typeface="Arial" pitchFamily="34" charset="-122"/>
                <a:cs typeface="Arial" pitchFamily="34" charset="-120"/>
              </a:rPr>
              <a:t>DATA </a:t>
            </a:r>
          </a:p>
          <a:p>
            <a:pPr marL="0" indent="0">
              <a:buNone/>
            </a:pPr>
            <a:r>
              <a:rPr lang="en-US" sz="4800" b="1" dirty="0">
                <a:solidFill>
                  <a:srgbClr val="FFFFFF"/>
                </a:solidFill>
                <a:latin typeface="Arial" pitchFamily="34" charset="0"/>
                <a:ea typeface="Arial" pitchFamily="34" charset="-122"/>
                <a:cs typeface="Arial" pitchFamily="34" charset="-120"/>
              </a:rPr>
              <a:t>ANALYSIS</a:t>
            </a:r>
            <a:endParaRPr lang="en-US" sz="4800" dirty="0"/>
          </a:p>
        </p:txBody>
      </p:sp>
      <p:sp>
        <p:nvSpPr>
          <p:cNvPr id="6" name="Text 4"/>
          <p:cNvSpPr/>
          <p:nvPr/>
        </p:nvSpPr>
        <p:spPr>
          <a:xfrm>
            <a:off x="320040" y="3246120"/>
            <a:ext cx="4572000" cy="640080"/>
          </a:xfrm>
          <a:prstGeom prst="rect">
            <a:avLst/>
          </a:prstGeom>
          <a:noFill/>
          <a:ln/>
        </p:spPr>
        <p:txBody>
          <a:bodyPr wrap="square" rtlCol="0" anchor="ctr"/>
          <a:lstStyle/>
          <a:p>
            <a:pPr marL="0" indent="0">
              <a:buNone/>
            </a:pPr>
            <a:r>
              <a:rPr lang="en-US" sz="1200" dirty="0">
                <a:solidFill>
                  <a:srgbClr val="8892B0"/>
                </a:solidFill>
                <a:latin typeface="Calibri" pitchFamily="34" charset="0"/>
                <a:ea typeface="Calibri" pitchFamily="34" charset="-122"/>
                <a:cs typeface="Calibri" pitchFamily="34" charset="-120"/>
              </a:rPr>
              <a:t>Using Python And csv file</a:t>
            </a:r>
          </a:p>
          <a:p>
            <a:pPr marL="0" indent="0">
              <a:buNone/>
            </a:pPr>
            <a:endParaRPr lang="en-US" sz="1200" dirty="0"/>
          </a:p>
        </p:txBody>
      </p:sp>
      <p:sp>
        <p:nvSpPr>
          <p:cNvPr id="7" name="Shape 5"/>
          <p:cNvSpPr/>
          <p:nvPr/>
        </p:nvSpPr>
        <p:spPr>
          <a:xfrm>
            <a:off x="5394960" y="320040"/>
            <a:ext cx="3474720" cy="4572000"/>
          </a:xfrm>
          <a:prstGeom prst="roundRect">
            <a:avLst>
              <a:gd name="adj" fmla="val 3158"/>
            </a:avLst>
          </a:prstGeom>
          <a:solidFill>
            <a:srgbClr val="1A2050"/>
          </a:solidFill>
          <a:ln w="12700">
            <a:solidFill>
              <a:srgbClr val="4361EE"/>
            </a:solidFill>
            <a:prstDash val="solid"/>
          </a:ln>
        </p:spPr>
      </p:sp>
      <p:sp>
        <p:nvSpPr>
          <p:cNvPr id="8" name="Text 6"/>
          <p:cNvSpPr/>
          <p:nvPr/>
        </p:nvSpPr>
        <p:spPr>
          <a:xfrm>
            <a:off x="5486400" y="640080"/>
            <a:ext cx="3200400" cy="548640"/>
          </a:xfrm>
          <a:prstGeom prst="rect">
            <a:avLst/>
          </a:prstGeom>
          <a:noFill/>
          <a:ln/>
        </p:spPr>
        <p:txBody>
          <a:bodyPr wrap="square" rtlCol="0" anchor="ctr"/>
          <a:lstStyle/>
          <a:p>
            <a:pPr marL="0" indent="0" algn="ctr">
              <a:buNone/>
            </a:pPr>
            <a:r>
              <a:rPr lang="en-US" sz="2800" b="1" dirty="0">
                <a:solidFill>
                  <a:srgbClr val="00D4FF"/>
                </a:solidFill>
                <a:latin typeface="Arial" pitchFamily="34" charset="0"/>
                <a:ea typeface="Arial" pitchFamily="34" charset="-122"/>
                <a:cs typeface="Arial" pitchFamily="34" charset="-120"/>
              </a:rPr>
              <a:t>322</a:t>
            </a:r>
            <a:endParaRPr lang="en-US" sz="2800" dirty="0"/>
          </a:p>
        </p:txBody>
      </p:sp>
      <p:sp>
        <p:nvSpPr>
          <p:cNvPr id="9" name="Text 7"/>
          <p:cNvSpPr/>
          <p:nvPr/>
        </p:nvSpPr>
        <p:spPr>
          <a:xfrm>
            <a:off x="5486400" y="1143000"/>
            <a:ext cx="320040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US Airports</a:t>
            </a:r>
            <a:endParaRPr lang="en-US" sz="1000" dirty="0"/>
          </a:p>
        </p:txBody>
      </p:sp>
      <p:sp>
        <p:nvSpPr>
          <p:cNvPr id="10" name="Text 8"/>
          <p:cNvSpPr/>
          <p:nvPr/>
        </p:nvSpPr>
        <p:spPr>
          <a:xfrm>
            <a:off x="5486400" y="1691640"/>
            <a:ext cx="3200400" cy="548640"/>
          </a:xfrm>
          <a:prstGeom prst="rect">
            <a:avLst/>
          </a:prstGeom>
          <a:noFill/>
          <a:ln/>
        </p:spPr>
        <p:txBody>
          <a:bodyPr wrap="square" rtlCol="0" anchor="ctr"/>
          <a:lstStyle/>
          <a:p>
            <a:pPr marL="0" indent="0" algn="ctr">
              <a:buNone/>
            </a:pPr>
            <a:r>
              <a:rPr lang="en-US" sz="2800" b="1" dirty="0">
                <a:solidFill>
                  <a:srgbClr val="FFD166"/>
                </a:solidFill>
                <a:latin typeface="Arial" pitchFamily="34" charset="0"/>
                <a:ea typeface="Arial" pitchFamily="34" charset="-122"/>
                <a:cs typeface="Arial" pitchFamily="34" charset="-120"/>
              </a:rPr>
              <a:t>5</a:t>
            </a:r>
            <a:endParaRPr lang="en-US" sz="2800" dirty="0"/>
          </a:p>
        </p:txBody>
      </p:sp>
      <p:sp>
        <p:nvSpPr>
          <p:cNvPr id="11" name="Text 9"/>
          <p:cNvSpPr/>
          <p:nvPr/>
        </p:nvSpPr>
        <p:spPr>
          <a:xfrm>
            <a:off x="5486400" y="2194560"/>
            <a:ext cx="320040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ML Features</a:t>
            </a:r>
            <a:endParaRPr lang="en-US" sz="1000" dirty="0"/>
          </a:p>
        </p:txBody>
      </p:sp>
      <p:sp>
        <p:nvSpPr>
          <p:cNvPr id="12" name="Text 10"/>
          <p:cNvSpPr/>
          <p:nvPr/>
        </p:nvSpPr>
        <p:spPr>
          <a:xfrm>
            <a:off x="5486400" y="2743200"/>
            <a:ext cx="3200400" cy="548640"/>
          </a:xfrm>
          <a:prstGeom prst="rect">
            <a:avLst/>
          </a:prstGeom>
          <a:noFill/>
          <a:ln/>
        </p:spPr>
        <p:txBody>
          <a:bodyPr wrap="square" rtlCol="0" anchor="ctr"/>
          <a:lstStyle/>
          <a:p>
            <a:pPr marL="0" indent="0" algn="ctr">
              <a:buNone/>
            </a:pPr>
            <a:r>
              <a:rPr lang="en-US" sz="2800" b="1" dirty="0">
                <a:solidFill>
                  <a:srgbClr val="06D6A0"/>
                </a:solidFill>
                <a:latin typeface="Arial" pitchFamily="34" charset="0"/>
                <a:ea typeface="Arial" pitchFamily="34" charset="-122"/>
                <a:cs typeface="Arial" pitchFamily="34" charset="-120"/>
              </a:rPr>
              <a:t>High</a:t>
            </a:r>
            <a:endParaRPr lang="en-US" sz="2800" dirty="0"/>
          </a:p>
        </p:txBody>
      </p:sp>
      <p:sp>
        <p:nvSpPr>
          <p:cNvPr id="13" name="Text 11"/>
          <p:cNvSpPr/>
          <p:nvPr/>
        </p:nvSpPr>
        <p:spPr>
          <a:xfrm>
            <a:off x="5486400" y="3246120"/>
            <a:ext cx="320040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R² Score</a:t>
            </a:r>
            <a:endParaRPr lang="en-US" sz="1000" dirty="0"/>
          </a:p>
        </p:txBody>
      </p:sp>
      <p:sp>
        <p:nvSpPr>
          <p:cNvPr id="14" name="Text 12"/>
          <p:cNvSpPr/>
          <p:nvPr/>
        </p:nvSpPr>
        <p:spPr>
          <a:xfrm>
            <a:off x="5486400" y="3794760"/>
            <a:ext cx="3200400" cy="548640"/>
          </a:xfrm>
          <a:prstGeom prst="rect">
            <a:avLst/>
          </a:prstGeom>
          <a:noFill/>
          <a:ln/>
        </p:spPr>
        <p:txBody>
          <a:bodyPr wrap="square" rtlCol="0" anchor="ctr"/>
          <a:lstStyle/>
          <a:p>
            <a:pPr marL="0" indent="0" algn="ctr">
              <a:buNone/>
            </a:pPr>
            <a:r>
              <a:rPr lang="en-US" sz="2800" b="1" dirty="0">
                <a:solidFill>
                  <a:srgbClr val="4361EE"/>
                </a:solidFill>
                <a:latin typeface="Arial" pitchFamily="34" charset="0"/>
                <a:ea typeface="Arial" pitchFamily="34" charset="-122"/>
                <a:cs typeface="Arial" pitchFamily="34" charset="-120"/>
              </a:rPr>
              <a:t>3</a:t>
            </a:r>
            <a:endParaRPr lang="en-US" sz="2800" dirty="0"/>
          </a:p>
        </p:txBody>
      </p:sp>
      <p:sp>
        <p:nvSpPr>
          <p:cNvPr id="15" name="Text 13"/>
          <p:cNvSpPr/>
          <p:nvPr/>
        </p:nvSpPr>
        <p:spPr>
          <a:xfrm>
            <a:off x="5486400" y="4297680"/>
            <a:ext cx="320040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Metrics Tracked</a:t>
            </a:r>
            <a:endParaRPr lang="en-US" sz="1000" dirty="0"/>
          </a:p>
        </p:txBody>
      </p:sp>
      <p:sp>
        <p:nvSpPr>
          <p:cNvPr id="16" name="Shape 14"/>
          <p:cNvSpPr/>
          <p:nvPr/>
        </p:nvSpPr>
        <p:spPr>
          <a:xfrm>
            <a:off x="228600" y="4526280"/>
            <a:ext cx="8686800" cy="384048"/>
          </a:xfrm>
          <a:prstGeom prst="roundRect">
            <a:avLst>
              <a:gd name="adj" fmla="val 11905"/>
            </a:avLst>
          </a:prstGeom>
          <a:solidFill>
            <a:srgbClr val="7B2FBE">
              <a:alpha val="40000"/>
            </a:srgbClr>
          </a:solidFill>
          <a:ln w="12700">
            <a:solidFill>
              <a:srgbClr val="7B2FBE"/>
            </a:solidFill>
            <a:prstDash val="solid"/>
          </a:ln>
        </p:spPr>
      </p:sp>
      <p:sp>
        <p:nvSpPr>
          <p:cNvPr id="17" name="Text 15"/>
          <p:cNvSpPr/>
          <p:nvPr/>
        </p:nvSpPr>
        <p:spPr>
          <a:xfrm>
            <a:off x="228600" y="4526280"/>
            <a:ext cx="868680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GOAL: Predict ARRIVAL_DELAY using flight features via Linear Regression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0" y="91440"/>
            <a:ext cx="9144000" cy="384048"/>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TEAM MEMBERS</a:t>
            </a:r>
            <a:endParaRPr lang="en-US" sz="1800" dirty="0"/>
          </a:p>
        </p:txBody>
      </p:sp>
      <p:sp>
        <p:nvSpPr>
          <p:cNvPr id="4" name="Shape 2"/>
          <p:cNvSpPr/>
          <p:nvPr/>
        </p:nvSpPr>
        <p:spPr>
          <a:xfrm>
            <a:off x="1371600" y="914400"/>
            <a:ext cx="502920" cy="502920"/>
          </a:xfrm>
          <a:prstGeom prst="roundRect">
            <a:avLst>
              <a:gd name="adj" fmla="val 50909"/>
            </a:avLst>
          </a:prstGeom>
          <a:solidFill>
            <a:srgbClr val="4361EE"/>
          </a:solidFill>
          <a:ln w="12700">
            <a:solidFill>
              <a:srgbClr val="000000"/>
            </a:solidFill>
            <a:prstDash val="solid"/>
          </a:ln>
        </p:spPr>
      </p:sp>
      <p:sp>
        <p:nvSpPr>
          <p:cNvPr id="5" name="Text 3"/>
          <p:cNvSpPr/>
          <p:nvPr/>
        </p:nvSpPr>
        <p:spPr>
          <a:xfrm>
            <a:off x="1371600" y="91440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2103120" y="914400"/>
            <a:ext cx="4937760" cy="804672"/>
          </a:xfrm>
          <a:prstGeom prst="roundRect">
            <a:avLst>
              <a:gd name="adj" fmla="val 11364"/>
            </a:avLst>
          </a:prstGeom>
          <a:solidFill>
            <a:srgbClr val="1A2050"/>
          </a:solidFill>
          <a:ln w="12700">
            <a:solidFill>
              <a:srgbClr val="4361EE"/>
            </a:solidFill>
            <a:prstDash val="solid"/>
          </a:ln>
        </p:spPr>
      </p:sp>
      <p:sp>
        <p:nvSpPr>
          <p:cNvPr id="7" name="Text 5"/>
          <p:cNvSpPr/>
          <p:nvPr/>
        </p:nvSpPr>
        <p:spPr>
          <a:xfrm>
            <a:off x="2240280" y="987552"/>
            <a:ext cx="4663440" cy="274320"/>
          </a:xfrm>
          <a:prstGeom prst="rect">
            <a:avLst/>
          </a:prstGeom>
          <a:noFill/>
          <a:ln/>
        </p:spPr>
        <p:txBody>
          <a:bodyPr wrap="square" rtlCol="0" anchor="ctr"/>
          <a:lstStyle/>
          <a:p>
            <a:pPr marL="0" indent="0">
              <a:buNone/>
            </a:pPr>
            <a:r>
              <a:rPr lang="en-US" sz="1100" dirty="0">
                <a:solidFill>
                  <a:srgbClr val="8892B0"/>
                </a:solidFill>
                <a:latin typeface="Calibri" pitchFamily="34" charset="0"/>
                <a:ea typeface="Calibri" pitchFamily="34" charset="-122"/>
                <a:cs typeface="Calibri" pitchFamily="34" charset="-120"/>
              </a:rPr>
              <a:t>2510030003</a:t>
            </a:r>
            <a:endParaRPr lang="en-US" sz="1100" dirty="0"/>
          </a:p>
        </p:txBody>
      </p:sp>
      <p:sp>
        <p:nvSpPr>
          <p:cNvPr id="8" name="Text 6"/>
          <p:cNvSpPr/>
          <p:nvPr/>
        </p:nvSpPr>
        <p:spPr>
          <a:xfrm>
            <a:off x="2240280" y="1298448"/>
            <a:ext cx="466344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Vanshika</a:t>
            </a:r>
            <a:endParaRPr lang="en-US" sz="1600" dirty="0"/>
          </a:p>
        </p:txBody>
      </p:sp>
      <p:sp>
        <p:nvSpPr>
          <p:cNvPr id="9" name="Shape 7"/>
          <p:cNvSpPr/>
          <p:nvPr/>
        </p:nvSpPr>
        <p:spPr>
          <a:xfrm>
            <a:off x="1371600" y="2148840"/>
            <a:ext cx="502920" cy="502920"/>
          </a:xfrm>
          <a:prstGeom prst="roundRect">
            <a:avLst>
              <a:gd name="adj" fmla="val 50909"/>
            </a:avLst>
          </a:prstGeom>
          <a:solidFill>
            <a:srgbClr val="4361EE"/>
          </a:solidFill>
          <a:ln w="12700">
            <a:solidFill>
              <a:srgbClr val="000000"/>
            </a:solidFill>
            <a:prstDash val="solid"/>
          </a:ln>
        </p:spPr>
      </p:sp>
      <p:sp>
        <p:nvSpPr>
          <p:cNvPr id="10" name="Text 8"/>
          <p:cNvSpPr/>
          <p:nvPr/>
        </p:nvSpPr>
        <p:spPr>
          <a:xfrm>
            <a:off x="1371600" y="214884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Shape 9"/>
          <p:cNvSpPr/>
          <p:nvPr/>
        </p:nvSpPr>
        <p:spPr>
          <a:xfrm>
            <a:off x="2103120" y="2148840"/>
            <a:ext cx="4937760" cy="804672"/>
          </a:xfrm>
          <a:prstGeom prst="roundRect">
            <a:avLst>
              <a:gd name="adj" fmla="val 11364"/>
            </a:avLst>
          </a:prstGeom>
          <a:solidFill>
            <a:srgbClr val="1A2050"/>
          </a:solidFill>
          <a:ln w="12700">
            <a:solidFill>
              <a:srgbClr val="4361EE"/>
            </a:solidFill>
            <a:prstDash val="solid"/>
          </a:ln>
        </p:spPr>
      </p:sp>
      <p:sp>
        <p:nvSpPr>
          <p:cNvPr id="12" name="Text 10"/>
          <p:cNvSpPr/>
          <p:nvPr/>
        </p:nvSpPr>
        <p:spPr>
          <a:xfrm>
            <a:off x="2240280" y="2221992"/>
            <a:ext cx="4663440" cy="274320"/>
          </a:xfrm>
          <a:prstGeom prst="rect">
            <a:avLst/>
          </a:prstGeom>
          <a:noFill/>
          <a:ln/>
        </p:spPr>
        <p:txBody>
          <a:bodyPr wrap="square" rtlCol="0" anchor="ctr"/>
          <a:lstStyle/>
          <a:p>
            <a:pPr marL="0" indent="0">
              <a:buNone/>
            </a:pPr>
            <a:r>
              <a:rPr lang="en-US" sz="1100" dirty="0">
                <a:solidFill>
                  <a:srgbClr val="8892B0"/>
                </a:solidFill>
                <a:latin typeface="Calibri" pitchFamily="34" charset="0"/>
                <a:ea typeface="Calibri" pitchFamily="34" charset="-122"/>
                <a:cs typeface="Calibri" pitchFamily="34" charset="-120"/>
              </a:rPr>
              <a:t>2510030401</a:t>
            </a:r>
            <a:endParaRPr lang="en-US" sz="1100" dirty="0"/>
          </a:p>
        </p:txBody>
      </p:sp>
      <p:sp>
        <p:nvSpPr>
          <p:cNvPr id="13" name="Text 11"/>
          <p:cNvSpPr/>
          <p:nvPr/>
        </p:nvSpPr>
        <p:spPr>
          <a:xfrm>
            <a:off x="2240280" y="2532888"/>
            <a:ext cx="466344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Bhavya</a:t>
            </a:r>
            <a:endParaRPr lang="en-US" sz="1600" dirty="0"/>
          </a:p>
        </p:txBody>
      </p:sp>
      <p:sp>
        <p:nvSpPr>
          <p:cNvPr id="14" name="Shape 12"/>
          <p:cNvSpPr/>
          <p:nvPr/>
        </p:nvSpPr>
        <p:spPr>
          <a:xfrm>
            <a:off x="1371600" y="3383280"/>
            <a:ext cx="502920" cy="502920"/>
          </a:xfrm>
          <a:prstGeom prst="roundRect">
            <a:avLst>
              <a:gd name="adj" fmla="val 50909"/>
            </a:avLst>
          </a:prstGeom>
          <a:solidFill>
            <a:srgbClr val="4361EE"/>
          </a:solidFill>
          <a:ln w="12700">
            <a:solidFill>
              <a:srgbClr val="000000"/>
            </a:solidFill>
            <a:prstDash val="solid"/>
          </a:ln>
        </p:spPr>
      </p:sp>
      <p:sp>
        <p:nvSpPr>
          <p:cNvPr id="15" name="Text 13"/>
          <p:cNvSpPr/>
          <p:nvPr/>
        </p:nvSpPr>
        <p:spPr>
          <a:xfrm>
            <a:off x="1371600" y="3383280"/>
            <a:ext cx="502920" cy="5029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Shape 14"/>
          <p:cNvSpPr/>
          <p:nvPr/>
        </p:nvSpPr>
        <p:spPr>
          <a:xfrm>
            <a:off x="2103120" y="3383280"/>
            <a:ext cx="4937760" cy="804672"/>
          </a:xfrm>
          <a:prstGeom prst="roundRect">
            <a:avLst>
              <a:gd name="adj" fmla="val 11364"/>
            </a:avLst>
          </a:prstGeom>
          <a:solidFill>
            <a:srgbClr val="1A2050"/>
          </a:solidFill>
          <a:ln w="12700">
            <a:solidFill>
              <a:srgbClr val="4361EE"/>
            </a:solidFill>
            <a:prstDash val="solid"/>
          </a:ln>
        </p:spPr>
      </p:sp>
      <p:sp>
        <p:nvSpPr>
          <p:cNvPr id="17" name="Text 15"/>
          <p:cNvSpPr/>
          <p:nvPr/>
        </p:nvSpPr>
        <p:spPr>
          <a:xfrm>
            <a:off x="2240280" y="3456432"/>
            <a:ext cx="4663440" cy="274320"/>
          </a:xfrm>
          <a:prstGeom prst="rect">
            <a:avLst/>
          </a:prstGeom>
          <a:noFill/>
          <a:ln/>
        </p:spPr>
        <p:txBody>
          <a:bodyPr wrap="square" rtlCol="0" anchor="ctr"/>
          <a:lstStyle/>
          <a:p>
            <a:pPr marL="0" indent="0">
              <a:buNone/>
            </a:pPr>
            <a:r>
              <a:rPr lang="en-US" sz="1100" dirty="0">
                <a:solidFill>
                  <a:srgbClr val="8892B0"/>
                </a:solidFill>
                <a:latin typeface="Calibri" pitchFamily="34" charset="0"/>
                <a:ea typeface="Calibri" pitchFamily="34" charset="-122"/>
                <a:cs typeface="Calibri" pitchFamily="34" charset="-120"/>
              </a:rPr>
              <a:t>2510080028</a:t>
            </a:r>
            <a:endParaRPr lang="en-US" sz="1100" dirty="0"/>
          </a:p>
        </p:txBody>
      </p:sp>
      <p:sp>
        <p:nvSpPr>
          <p:cNvPr id="18" name="Text 16"/>
          <p:cNvSpPr/>
          <p:nvPr/>
        </p:nvSpPr>
        <p:spPr>
          <a:xfrm>
            <a:off x="2240280" y="3767328"/>
            <a:ext cx="466344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Shruthi</a:t>
            </a:r>
            <a:endParaRPr lang="en-US" sz="1600" dirty="0"/>
          </a:p>
        </p:txBody>
      </p:sp>
      <p:sp>
        <p:nvSpPr>
          <p:cNvPr id="19" name="Shape 17"/>
          <p:cNvSpPr/>
          <p:nvPr/>
        </p:nvSpPr>
        <p:spPr>
          <a:xfrm>
            <a:off x="2286000" y="4617720"/>
            <a:ext cx="4572000" cy="347472"/>
          </a:xfrm>
          <a:prstGeom prst="roundRect">
            <a:avLst>
              <a:gd name="adj" fmla="val 21053"/>
            </a:avLst>
          </a:prstGeom>
          <a:solidFill>
            <a:srgbClr val="7B2FBE">
              <a:alpha val="40000"/>
            </a:srgbClr>
          </a:solidFill>
          <a:ln w="12700">
            <a:solidFill>
              <a:srgbClr val="7B2FBE"/>
            </a:solidFill>
            <a:prstDash val="solid"/>
          </a:ln>
        </p:spPr>
      </p:sp>
      <p:sp>
        <p:nvSpPr>
          <p:cNvPr id="20" name="Text 18"/>
          <p:cNvSpPr/>
          <p:nvPr/>
        </p:nvSpPr>
        <p:spPr>
          <a:xfrm>
            <a:off x="2286000" y="4315968"/>
            <a:ext cx="4572000" cy="256032"/>
          </a:xfrm>
          <a:prstGeom prst="rect">
            <a:avLst/>
          </a:prstGeom>
          <a:noFill/>
          <a:ln/>
        </p:spPr>
        <p:txBody>
          <a:bodyPr wrap="square" rtlCol="0" anchor="ctr"/>
          <a:lstStyle/>
          <a:p>
            <a:pPr marL="0" indent="0" algn="ctr">
              <a:buNone/>
            </a:pPr>
            <a:r>
              <a:rPr lang="en-US" sz="900" b="1" dirty="0">
                <a:solidFill>
                  <a:srgbClr val="8892B0"/>
                </a:solidFill>
                <a:latin typeface="Calibri" pitchFamily="34" charset="0"/>
                <a:ea typeface="Calibri" pitchFamily="34" charset="-122"/>
                <a:cs typeface="Calibri" pitchFamily="34" charset="-120"/>
              </a:rPr>
              <a:t>GUIDED BY</a:t>
            </a:r>
            <a:endParaRPr lang="en-US" sz="900" dirty="0"/>
          </a:p>
        </p:txBody>
      </p:sp>
      <p:sp>
        <p:nvSpPr>
          <p:cNvPr id="21" name="Text 19"/>
          <p:cNvSpPr/>
          <p:nvPr/>
        </p:nvSpPr>
        <p:spPr>
          <a:xfrm>
            <a:off x="2286000" y="4617720"/>
            <a:ext cx="4572000" cy="34747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DR. M. NAGESH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5486400" cy="384048"/>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DATASET OVERVIEW</a:t>
            </a:r>
            <a:endParaRPr lang="en-US" sz="1800" dirty="0"/>
          </a:p>
        </p:txBody>
      </p:sp>
      <p:sp>
        <p:nvSpPr>
          <p:cNvPr id="4" name="Shape 2"/>
          <p:cNvSpPr/>
          <p:nvPr/>
        </p:nvSpPr>
        <p:spPr>
          <a:xfrm>
            <a:off x="228600" y="685800"/>
            <a:ext cx="2926080" cy="2560320"/>
          </a:xfrm>
          <a:prstGeom prst="roundRect">
            <a:avLst>
              <a:gd name="adj" fmla="val 3571"/>
            </a:avLst>
          </a:prstGeom>
          <a:solidFill>
            <a:srgbClr val="1A2050"/>
          </a:solidFill>
          <a:ln w="12700">
            <a:solidFill>
              <a:srgbClr val="4361EE"/>
            </a:solidFill>
            <a:prstDash val="solid"/>
          </a:ln>
        </p:spPr>
      </p:sp>
      <p:sp>
        <p:nvSpPr>
          <p:cNvPr id="5" name="Text 3"/>
          <p:cNvSpPr/>
          <p:nvPr/>
        </p:nvSpPr>
        <p:spPr>
          <a:xfrm>
            <a:off x="320040" y="749808"/>
            <a:ext cx="2743200" cy="347472"/>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Dataset Information</a:t>
            </a:r>
            <a:endParaRPr lang="en-US" sz="1100" dirty="0"/>
          </a:p>
        </p:txBody>
      </p:sp>
      <p:sp>
        <p:nvSpPr>
          <p:cNvPr id="6" name="Text 4"/>
          <p:cNvSpPr/>
          <p:nvPr/>
        </p:nvSpPr>
        <p:spPr>
          <a:xfrm>
            <a:off x="347472" y="117043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Domain:</a:t>
            </a:r>
            <a:endParaRPr lang="en-US" sz="1000" dirty="0"/>
          </a:p>
        </p:txBody>
      </p:sp>
      <p:sp>
        <p:nvSpPr>
          <p:cNvPr id="7" name="Text 5"/>
          <p:cNvSpPr/>
          <p:nvPr/>
        </p:nvSpPr>
        <p:spPr>
          <a:xfrm>
            <a:off x="1481328" y="117043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Transportation</a:t>
            </a:r>
            <a:endParaRPr lang="en-US" sz="1000" dirty="0"/>
          </a:p>
        </p:txBody>
      </p:sp>
      <p:sp>
        <p:nvSpPr>
          <p:cNvPr id="8" name="Text 6"/>
          <p:cNvSpPr/>
          <p:nvPr/>
        </p:nvSpPr>
        <p:spPr>
          <a:xfrm>
            <a:off x="347472" y="149047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Source:</a:t>
            </a:r>
            <a:endParaRPr lang="en-US" sz="1000" dirty="0"/>
          </a:p>
        </p:txBody>
      </p:sp>
      <p:sp>
        <p:nvSpPr>
          <p:cNvPr id="9" name="Text 7"/>
          <p:cNvSpPr/>
          <p:nvPr/>
        </p:nvSpPr>
        <p:spPr>
          <a:xfrm>
            <a:off x="1481328" y="149047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US DOT BTS</a:t>
            </a:r>
            <a:endParaRPr lang="en-US" sz="1000" dirty="0"/>
          </a:p>
        </p:txBody>
      </p:sp>
      <p:sp>
        <p:nvSpPr>
          <p:cNvPr id="10" name="Text 8"/>
          <p:cNvSpPr/>
          <p:nvPr/>
        </p:nvSpPr>
        <p:spPr>
          <a:xfrm>
            <a:off x="347472" y="181051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Format:</a:t>
            </a:r>
            <a:endParaRPr lang="en-US" sz="1000" dirty="0"/>
          </a:p>
        </p:txBody>
      </p:sp>
      <p:sp>
        <p:nvSpPr>
          <p:cNvPr id="11" name="Text 9"/>
          <p:cNvSpPr/>
          <p:nvPr/>
        </p:nvSpPr>
        <p:spPr>
          <a:xfrm>
            <a:off x="1481328" y="181051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CSV (flights.csv)</a:t>
            </a:r>
            <a:endParaRPr lang="en-US" sz="1000" dirty="0"/>
          </a:p>
        </p:txBody>
      </p:sp>
      <p:sp>
        <p:nvSpPr>
          <p:cNvPr id="12" name="Text 10"/>
          <p:cNvSpPr/>
          <p:nvPr/>
        </p:nvSpPr>
        <p:spPr>
          <a:xfrm>
            <a:off x="347472" y="213055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Key File:</a:t>
            </a:r>
            <a:endParaRPr lang="en-US" sz="1000" dirty="0"/>
          </a:p>
        </p:txBody>
      </p:sp>
      <p:sp>
        <p:nvSpPr>
          <p:cNvPr id="13" name="Text 11"/>
          <p:cNvSpPr/>
          <p:nvPr/>
        </p:nvSpPr>
        <p:spPr>
          <a:xfrm>
            <a:off x="1481328" y="213055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airports.csv</a:t>
            </a:r>
            <a:endParaRPr lang="en-US" sz="1000" dirty="0"/>
          </a:p>
        </p:txBody>
      </p:sp>
      <p:sp>
        <p:nvSpPr>
          <p:cNvPr id="14" name="Text 12"/>
          <p:cNvSpPr/>
          <p:nvPr/>
        </p:nvSpPr>
        <p:spPr>
          <a:xfrm>
            <a:off x="347472" y="245059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Records:</a:t>
            </a:r>
            <a:endParaRPr lang="en-US" sz="1000" dirty="0"/>
          </a:p>
        </p:txBody>
      </p:sp>
      <p:sp>
        <p:nvSpPr>
          <p:cNvPr id="15" name="Text 13"/>
          <p:cNvSpPr/>
          <p:nvPr/>
        </p:nvSpPr>
        <p:spPr>
          <a:xfrm>
            <a:off x="1481328" y="245059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~5.8M flights</a:t>
            </a:r>
            <a:endParaRPr lang="en-US" sz="1000" dirty="0"/>
          </a:p>
        </p:txBody>
      </p:sp>
      <p:sp>
        <p:nvSpPr>
          <p:cNvPr id="16" name="Text 14"/>
          <p:cNvSpPr/>
          <p:nvPr/>
        </p:nvSpPr>
        <p:spPr>
          <a:xfrm>
            <a:off x="347472" y="2770632"/>
            <a:ext cx="1097280" cy="274320"/>
          </a:xfrm>
          <a:prstGeom prst="rect">
            <a:avLst/>
          </a:prstGeom>
          <a:noFill/>
          <a:ln/>
        </p:spPr>
        <p:txBody>
          <a:bodyPr wrap="square" rtlCol="0" anchor="ctr"/>
          <a:lstStyle/>
          <a:p>
            <a:pPr marL="0" indent="0">
              <a:buNone/>
            </a:pPr>
            <a:r>
              <a:rPr lang="en-US" sz="1000" b="1" dirty="0">
                <a:solidFill>
                  <a:srgbClr val="8892B0"/>
                </a:solidFill>
                <a:latin typeface="Calibri" pitchFamily="34" charset="0"/>
                <a:ea typeface="Calibri" pitchFamily="34" charset="-122"/>
                <a:cs typeface="Calibri" pitchFamily="34" charset="-120"/>
              </a:rPr>
              <a:t>Airports:</a:t>
            </a:r>
            <a:endParaRPr lang="en-US" sz="1000" dirty="0"/>
          </a:p>
        </p:txBody>
      </p:sp>
      <p:sp>
        <p:nvSpPr>
          <p:cNvPr id="17" name="Text 15"/>
          <p:cNvSpPr/>
          <p:nvPr/>
        </p:nvSpPr>
        <p:spPr>
          <a:xfrm>
            <a:off x="1481328" y="2770632"/>
            <a:ext cx="1463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322</a:t>
            </a:r>
            <a:endParaRPr lang="en-US" sz="1000" dirty="0"/>
          </a:p>
        </p:txBody>
      </p:sp>
      <p:sp>
        <p:nvSpPr>
          <p:cNvPr id="18" name="Shape 16"/>
          <p:cNvSpPr/>
          <p:nvPr/>
        </p:nvSpPr>
        <p:spPr>
          <a:xfrm>
            <a:off x="3383280" y="685800"/>
            <a:ext cx="1737360" cy="1005840"/>
          </a:xfrm>
          <a:prstGeom prst="roundRect">
            <a:avLst>
              <a:gd name="adj" fmla="val 9091"/>
            </a:avLst>
          </a:prstGeom>
          <a:solidFill>
            <a:srgbClr val="1A2050"/>
          </a:solidFill>
          <a:ln w="12700">
            <a:solidFill>
              <a:srgbClr val="4361EE"/>
            </a:solidFill>
            <a:prstDash val="solid"/>
          </a:ln>
        </p:spPr>
      </p:sp>
      <p:sp>
        <p:nvSpPr>
          <p:cNvPr id="19" name="Text 17"/>
          <p:cNvSpPr/>
          <p:nvPr/>
        </p:nvSpPr>
        <p:spPr>
          <a:xfrm>
            <a:off x="3383280" y="749808"/>
            <a:ext cx="1737360" cy="502920"/>
          </a:xfrm>
          <a:prstGeom prst="rect">
            <a:avLst/>
          </a:prstGeom>
          <a:noFill/>
          <a:ln/>
        </p:spPr>
        <p:txBody>
          <a:bodyPr wrap="square" rtlCol="0" anchor="ctr"/>
          <a:lstStyle/>
          <a:p>
            <a:pPr marL="0" indent="0" algn="ctr">
              <a:buNone/>
            </a:pPr>
            <a:r>
              <a:rPr lang="en-US" sz="2400" b="1" dirty="0">
                <a:solidFill>
                  <a:srgbClr val="00D4FF"/>
                </a:solidFill>
                <a:latin typeface="Arial" pitchFamily="34" charset="0"/>
                <a:ea typeface="Arial" pitchFamily="34" charset="-122"/>
                <a:cs typeface="Arial" pitchFamily="34" charset="-120"/>
              </a:rPr>
              <a:t>322</a:t>
            </a:r>
            <a:endParaRPr lang="en-US" sz="2400" dirty="0"/>
          </a:p>
        </p:txBody>
      </p:sp>
      <p:sp>
        <p:nvSpPr>
          <p:cNvPr id="20" name="Text 18"/>
          <p:cNvSpPr/>
          <p:nvPr/>
        </p:nvSpPr>
        <p:spPr>
          <a:xfrm>
            <a:off x="3383280" y="1252728"/>
            <a:ext cx="173736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Airports</a:t>
            </a:r>
            <a:endParaRPr lang="en-US" sz="1000" dirty="0"/>
          </a:p>
        </p:txBody>
      </p:sp>
      <p:sp>
        <p:nvSpPr>
          <p:cNvPr id="21" name="Shape 19"/>
          <p:cNvSpPr/>
          <p:nvPr/>
        </p:nvSpPr>
        <p:spPr>
          <a:xfrm>
            <a:off x="5303520" y="685800"/>
            <a:ext cx="1737360" cy="1005840"/>
          </a:xfrm>
          <a:prstGeom prst="roundRect">
            <a:avLst>
              <a:gd name="adj" fmla="val 9091"/>
            </a:avLst>
          </a:prstGeom>
          <a:solidFill>
            <a:srgbClr val="1A2050"/>
          </a:solidFill>
          <a:ln w="12700">
            <a:solidFill>
              <a:srgbClr val="4361EE"/>
            </a:solidFill>
            <a:prstDash val="solid"/>
          </a:ln>
        </p:spPr>
      </p:sp>
      <p:sp>
        <p:nvSpPr>
          <p:cNvPr id="22" name="Text 20"/>
          <p:cNvSpPr/>
          <p:nvPr/>
        </p:nvSpPr>
        <p:spPr>
          <a:xfrm>
            <a:off x="5303520" y="749808"/>
            <a:ext cx="1737360" cy="502920"/>
          </a:xfrm>
          <a:prstGeom prst="rect">
            <a:avLst/>
          </a:prstGeom>
          <a:noFill/>
          <a:ln/>
        </p:spPr>
        <p:txBody>
          <a:bodyPr wrap="square" rtlCol="0" anchor="ctr"/>
          <a:lstStyle/>
          <a:p>
            <a:pPr marL="0" indent="0" algn="ctr">
              <a:buNone/>
            </a:pPr>
            <a:r>
              <a:rPr lang="en-US" sz="2400" b="1" dirty="0">
                <a:solidFill>
                  <a:srgbClr val="FFD166"/>
                </a:solidFill>
                <a:latin typeface="Arial" pitchFamily="34" charset="0"/>
                <a:ea typeface="Arial" pitchFamily="34" charset="-122"/>
                <a:cs typeface="Arial" pitchFamily="34" charset="-120"/>
              </a:rPr>
              <a:t>~5.8M</a:t>
            </a:r>
            <a:endParaRPr lang="en-US" sz="2400" dirty="0"/>
          </a:p>
        </p:txBody>
      </p:sp>
      <p:sp>
        <p:nvSpPr>
          <p:cNvPr id="23" name="Text 21"/>
          <p:cNvSpPr/>
          <p:nvPr/>
        </p:nvSpPr>
        <p:spPr>
          <a:xfrm>
            <a:off x="5303520" y="1252728"/>
            <a:ext cx="173736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Flights</a:t>
            </a:r>
            <a:endParaRPr lang="en-US" sz="1000" dirty="0"/>
          </a:p>
        </p:txBody>
      </p:sp>
      <p:sp>
        <p:nvSpPr>
          <p:cNvPr id="24" name="Shape 22"/>
          <p:cNvSpPr/>
          <p:nvPr/>
        </p:nvSpPr>
        <p:spPr>
          <a:xfrm>
            <a:off x="7223760" y="685800"/>
            <a:ext cx="1737360" cy="1005840"/>
          </a:xfrm>
          <a:prstGeom prst="roundRect">
            <a:avLst>
              <a:gd name="adj" fmla="val 9091"/>
            </a:avLst>
          </a:prstGeom>
          <a:solidFill>
            <a:srgbClr val="1A2050"/>
          </a:solidFill>
          <a:ln w="12700">
            <a:solidFill>
              <a:srgbClr val="4361EE"/>
            </a:solidFill>
            <a:prstDash val="solid"/>
          </a:ln>
        </p:spPr>
      </p:sp>
      <p:sp>
        <p:nvSpPr>
          <p:cNvPr id="25" name="Text 23"/>
          <p:cNvSpPr/>
          <p:nvPr/>
        </p:nvSpPr>
        <p:spPr>
          <a:xfrm>
            <a:off x="7223760" y="749808"/>
            <a:ext cx="1737360" cy="502920"/>
          </a:xfrm>
          <a:prstGeom prst="rect">
            <a:avLst/>
          </a:prstGeom>
          <a:noFill/>
          <a:ln/>
        </p:spPr>
        <p:txBody>
          <a:bodyPr wrap="square" rtlCol="0" anchor="ctr"/>
          <a:lstStyle/>
          <a:p>
            <a:pPr marL="0" indent="0" algn="ctr">
              <a:buNone/>
            </a:pPr>
            <a:r>
              <a:rPr lang="en-US" sz="2400" b="1" dirty="0">
                <a:solidFill>
                  <a:srgbClr val="06D6A0"/>
                </a:solidFill>
                <a:latin typeface="Arial" pitchFamily="34" charset="0"/>
                <a:ea typeface="Arial" pitchFamily="34" charset="-122"/>
                <a:cs typeface="Arial" pitchFamily="34" charset="-120"/>
              </a:rPr>
              <a:t>5</a:t>
            </a:r>
            <a:endParaRPr lang="en-US" sz="2400" dirty="0"/>
          </a:p>
        </p:txBody>
      </p:sp>
      <p:sp>
        <p:nvSpPr>
          <p:cNvPr id="26" name="Text 24"/>
          <p:cNvSpPr/>
          <p:nvPr/>
        </p:nvSpPr>
        <p:spPr>
          <a:xfrm>
            <a:off x="7223760" y="1252728"/>
            <a:ext cx="1737360" cy="274320"/>
          </a:xfrm>
          <a:prstGeom prst="rect">
            <a:avLst/>
          </a:prstGeom>
          <a:noFill/>
          <a:ln/>
        </p:spPr>
        <p:txBody>
          <a:bodyPr wrap="square"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ML Features</a:t>
            </a:r>
            <a:endParaRPr lang="en-US" sz="1000" dirty="0"/>
          </a:p>
        </p:txBody>
      </p:sp>
      <p:sp>
        <p:nvSpPr>
          <p:cNvPr id="27" name="Shape 25"/>
          <p:cNvSpPr/>
          <p:nvPr/>
        </p:nvSpPr>
        <p:spPr>
          <a:xfrm>
            <a:off x="3383280" y="1810512"/>
            <a:ext cx="5440680" cy="1435608"/>
          </a:xfrm>
          <a:prstGeom prst="roundRect">
            <a:avLst>
              <a:gd name="adj" fmla="val 6369"/>
            </a:avLst>
          </a:prstGeom>
          <a:solidFill>
            <a:srgbClr val="1A2050"/>
          </a:solidFill>
          <a:ln w="12700">
            <a:solidFill>
              <a:srgbClr val="7B2FBE"/>
            </a:solidFill>
            <a:prstDash val="solid"/>
          </a:ln>
        </p:spPr>
      </p:sp>
      <p:sp>
        <p:nvSpPr>
          <p:cNvPr id="28" name="Text 26"/>
          <p:cNvSpPr/>
          <p:nvPr/>
        </p:nvSpPr>
        <p:spPr>
          <a:xfrm>
            <a:off x="3520440" y="1892808"/>
            <a:ext cx="5029200" cy="320040"/>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Key Feature Categories</a:t>
            </a:r>
            <a:endParaRPr lang="en-US" sz="1100" dirty="0"/>
          </a:p>
        </p:txBody>
      </p:sp>
      <p:sp>
        <p:nvSpPr>
          <p:cNvPr id="29" name="Text 27"/>
          <p:cNvSpPr/>
          <p:nvPr/>
        </p:nvSpPr>
        <p:spPr>
          <a:xfrm>
            <a:off x="3520440" y="2240280"/>
            <a:ext cx="5120640" cy="96012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DEPARTURE_DELAY — primary predictor</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TAXI_OUT &amp; TAXI_IN — ground time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AIR_TIME — time in the air</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DISTANCE — route length (miles)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ARRIVAL_DELAY — target variable</a:t>
            </a:r>
            <a:endParaRPr lang="en-US" sz="1000" dirty="0"/>
          </a:p>
        </p:txBody>
      </p:sp>
      <p:sp>
        <p:nvSpPr>
          <p:cNvPr id="30" name="Shape 28"/>
          <p:cNvSpPr/>
          <p:nvPr/>
        </p:nvSpPr>
        <p:spPr>
          <a:xfrm>
            <a:off x="228600" y="3337560"/>
            <a:ext cx="8595360" cy="1600200"/>
          </a:xfrm>
          <a:prstGeom prst="roundRect">
            <a:avLst>
              <a:gd name="adj" fmla="val 5714"/>
            </a:avLst>
          </a:prstGeom>
          <a:solidFill>
            <a:srgbClr val="1A2050"/>
          </a:solidFill>
          <a:ln w="12700">
            <a:solidFill>
              <a:srgbClr val="6272A4"/>
            </a:solidFill>
            <a:prstDash val="solid"/>
          </a:ln>
        </p:spPr>
      </p:sp>
      <p:sp>
        <p:nvSpPr>
          <p:cNvPr id="31" name="Text 29"/>
          <p:cNvSpPr/>
          <p:nvPr/>
        </p:nvSpPr>
        <p:spPr>
          <a:xfrm>
            <a:off x="411480" y="3401568"/>
            <a:ext cx="3657600" cy="320040"/>
          </a:xfrm>
          <a:prstGeom prst="rect">
            <a:avLst/>
          </a:prstGeom>
          <a:noFill/>
          <a:ln/>
        </p:spPr>
        <p:txBody>
          <a:bodyPr wrap="square" rtlCol="0" anchor="ctr"/>
          <a:lstStyle/>
          <a:p>
            <a:pPr marL="0" indent="0">
              <a:buNone/>
            </a:pPr>
            <a:r>
              <a:rPr lang="en-US" sz="1100" b="1" dirty="0">
                <a:solidFill>
                  <a:srgbClr val="FFD166"/>
                </a:solidFill>
                <a:latin typeface="Arial" pitchFamily="34" charset="0"/>
                <a:ea typeface="Arial" pitchFamily="34" charset="-122"/>
                <a:cs typeface="Arial" pitchFamily="34" charset="-120"/>
              </a:rPr>
              <a:t>About the Dataset</a:t>
            </a:r>
            <a:endParaRPr lang="en-US" sz="1100" dirty="0"/>
          </a:p>
        </p:txBody>
      </p:sp>
      <p:sp>
        <p:nvSpPr>
          <p:cNvPr id="32" name="Text 30"/>
          <p:cNvSpPr/>
          <p:nvPr/>
        </p:nvSpPr>
        <p:spPr>
          <a:xfrm>
            <a:off x="411480" y="3749040"/>
            <a:ext cx="8321040" cy="109728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Flight delay data collected from US domestic carriers via the Bureau of Transportation Statistics. The dataset includes 322 airports across the United States (airports.csv) with IATA codes, city/state, and geo-coordinates. The main flight file captures per-flight metrics including departure/arrival delays, taxi times, air time, and distance. Machine learning targets ARRIVAL_DELAY as the prediction output. IQR-based outlier removal and dropna cleaning steps are applied before modelling.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5486400" cy="384048"/>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PROBLEM STATEMENT</a:t>
            </a:r>
            <a:endParaRPr lang="en-US" sz="1800" dirty="0"/>
          </a:p>
        </p:txBody>
      </p:sp>
      <p:sp>
        <p:nvSpPr>
          <p:cNvPr id="4" name="Shape 2"/>
          <p:cNvSpPr/>
          <p:nvPr/>
        </p:nvSpPr>
        <p:spPr>
          <a:xfrm>
            <a:off x="228600" y="685800"/>
            <a:ext cx="4160520" cy="1645920"/>
          </a:xfrm>
          <a:prstGeom prst="roundRect">
            <a:avLst>
              <a:gd name="adj" fmla="val 5556"/>
            </a:avLst>
          </a:prstGeom>
          <a:solidFill>
            <a:srgbClr val="1A2050"/>
          </a:solidFill>
          <a:ln w="12700">
            <a:solidFill>
              <a:srgbClr val="4361EE"/>
            </a:solidFill>
            <a:prstDash val="solid"/>
          </a:ln>
        </p:spPr>
      </p:sp>
      <p:sp>
        <p:nvSpPr>
          <p:cNvPr id="5" name="Text 3"/>
          <p:cNvSpPr/>
          <p:nvPr/>
        </p:nvSpPr>
        <p:spPr>
          <a:xfrm>
            <a:off x="384048" y="758952"/>
            <a:ext cx="1828800" cy="320040"/>
          </a:xfrm>
          <a:prstGeom prst="rect">
            <a:avLst/>
          </a:prstGeom>
          <a:noFill/>
          <a:ln/>
        </p:spPr>
        <p:txBody>
          <a:bodyPr wrap="square" rtlCol="0" anchor="ctr"/>
          <a:lstStyle/>
          <a:p>
            <a:pPr marL="0" indent="0">
              <a:buNone/>
            </a:pPr>
            <a:r>
              <a:rPr lang="en-US" sz="1200" b="1" dirty="0">
                <a:solidFill>
                  <a:srgbClr val="00D4FF"/>
                </a:solidFill>
                <a:latin typeface="Arial" pitchFamily="34" charset="0"/>
                <a:ea typeface="Arial" pitchFamily="34" charset="-122"/>
                <a:cs typeface="Arial" pitchFamily="34" charset="-120"/>
              </a:rPr>
              <a:t>Overview</a:t>
            </a:r>
            <a:endParaRPr lang="en-US" sz="1200" dirty="0"/>
          </a:p>
        </p:txBody>
      </p:sp>
      <p:sp>
        <p:nvSpPr>
          <p:cNvPr id="6" name="Text 4"/>
          <p:cNvSpPr/>
          <p:nvPr/>
        </p:nvSpPr>
        <p:spPr>
          <a:xfrm>
            <a:off x="384048" y="1115568"/>
            <a:ext cx="3840480" cy="11430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Flight delays cost airlines, passengers, and airports billions of dollars annually. This project analyzes US domestic flight data from the Bureau of Transportation Statistics to predict arrival delay given operational flight features. We apply Linear Regression after robust data cleaning and outlier removal using the IQR method.</a:t>
            </a:r>
            <a:endParaRPr lang="en-US" sz="1000" dirty="0"/>
          </a:p>
        </p:txBody>
      </p:sp>
      <p:sp>
        <p:nvSpPr>
          <p:cNvPr id="7" name="Shape 5"/>
          <p:cNvSpPr/>
          <p:nvPr/>
        </p:nvSpPr>
        <p:spPr>
          <a:xfrm>
            <a:off x="4572000" y="685800"/>
            <a:ext cx="4297680" cy="1645920"/>
          </a:xfrm>
          <a:prstGeom prst="roundRect">
            <a:avLst>
              <a:gd name="adj" fmla="val 5556"/>
            </a:avLst>
          </a:prstGeom>
          <a:solidFill>
            <a:srgbClr val="1A2050"/>
          </a:solidFill>
          <a:ln w="12700">
            <a:solidFill>
              <a:srgbClr val="7B2FBE"/>
            </a:solidFill>
            <a:prstDash val="solid"/>
          </a:ln>
        </p:spPr>
      </p:sp>
      <p:sp>
        <p:nvSpPr>
          <p:cNvPr id="8" name="Text 6"/>
          <p:cNvSpPr/>
          <p:nvPr/>
        </p:nvSpPr>
        <p:spPr>
          <a:xfrm>
            <a:off x="4727448" y="758952"/>
            <a:ext cx="3931920" cy="320040"/>
          </a:xfrm>
          <a:prstGeom prst="rect">
            <a:avLst/>
          </a:prstGeom>
          <a:noFill/>
          <a:ln/>
        </p:spPr>
        <p:txBody>
          <a:bodyPr wrap="square" rtlCol="0" anchor="ctr"/>
          <a:lstStyle/>
          <a:p>
            <a:pPr marL="0" indent="0">
              <a:buNone/>
            </a:pPr>
            <a:r>
              <a:rPr lang="en-US" sz="1200" b="1" dirty="0">
                <a:solidFill>
                  <a:srgbClr val="FFD166"/>
                </a:solidFill>
                <a:latin typeface="Arial" pitchFamily="34" charset="0"/>
                <a:ea typeface="Arial" pitchFamily="34" charset="-122"/>
                <a:cs typeface="Arial" pitchFamily="34" charset="-120"/>
              </a:rPr>
              <a:t>Project Goals</a:t>
            </a:r>
            <a:endParaRPr lang="en-US" sz="1200" dirty="0"/>
          </a:p>
        </p:txBody>
      </p:sp>
      <p:sp>
        <p:nvSpPr>
          <p:cNvPr id="9" name="Text 7"/>
          <p:cNvSpPr/>
          <p:nvPr/>
        </p:nvSpPr>
        <p:spPr>
          <a:xfrm>
            <a:off x="4727448" y="1115568"/>
            <a:ext cx="3931920" cy="114300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Predict Arrival Delay (minutes)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Identify key flight delay predictors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Evaluate Linear Regression approach</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Quantify error via MAE, MSE, R²</a:t>
            </a:r>
            <a:endParaRPr lang="en-US" sz="1000" dirty="0"/>
          </a:p>
        </p:txBody>
      </p:sp>
      <p:sp>
        <p:nvSpPr>
          <p:cNvPr id="10" name="Shape 8"/>
          <p:cNvSpPr/>
          <p:nvPr/>
        </p:nvSpPr>
        <p:spPr>
          <a:xfrm>
            <a:off x="228600" y="2468880"/>
            <a:ext cx="4160520" cy="1417320"/>
          </a:xfrm>
          <a:prstGeom prst="roundRect">
            <a:avLst>
              <a:gd name="adj" fmla="val 6452"/>
            </a:avLst>
          </a:prstGeom>
          <a:solidFill>
            <a:srgbClr val="1A2050"/>
          </a:solidFill>
          <a:ln w="12700">
            <a:solidFill>
              <a:srgbClr val="00D4FF"/>
            </a:solidFill>
            <a:prstDash val="solid"/>
          </a:ln>
        </p:spPr>
      </p:sp>
      <p:sp>
        <p:nvSpPr>
          <p:cNvPr id="11" name="Text 9"/>
          <p:cNvSpPr/>
          <p:nvPr/>
        </p:nvSpPr>
        <p:spPr>
          <a:xfrm>
            <a:off x="365760" y="2542032"/>
            <a:ext cx="3840480" cy="320040"/>
          </a:xfrm>
          <a:prstGeom prst="rect">
            <a:avLst/>
          </a:prstGeom>
          <a:noFill/>
          <a:ln/>
        </p:spPr>
        <p:txBody>
          <a:bodyPr wrap="square" rtlCol="0" anchor="ctr"/>
          <a:lstStyle/>
          <a:p>
            <a:pPr marL="0" indent="0">
              <a:buNone/>
            </a:pPr>
            <a:r>
              <a:rPr lang="en-US" sz="1200" b="1" dirty="0">
                <a:solidFill>
                  <a:srgbClr val="00D4FF"/>
                </a:solidFill>
                <a:latin typeface="Arial" pitchFamily="34" charset="0"/>
                <a:ea typeface="Arial" pitchFamily="34" charset="-122"/>
                <a:cs typeface="Arial" pitchFamily="34" charset="-120"/>
              </a:rPr>
              <a:t>Departure Factors</a:t>
            </a:r>
            <a:endParaRPr lang="en-US" sz="1200" dirty="0"/>
          </a:p>
        </p:txBody>
      </p:sp>
      <p:sp>
        <p:nvSpPr>
          <p:cNvPr id="12" name="Text 10"/>
          <p:cNvSpPr/>
          <p:nvPr/>
        </p:nvSpPr>
        <p:spPr>
          <a:xfrm>
            <a:off x="365760" y="2898648"/>
            <a:ext cx="3840480" cy="91440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DEPARTURE_DELAY — main cause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TAXI_OUT — runway wait time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Most predictive in model</a:t>
            </a:r>
            <a:endParaRPr lang="en-US" sz="1000" dirty="0"/>
          </a:p>
        </p:txBody>
      </p:sp>
      <p:sp>
        <p:nvSpPr>
          <p:cNvPr id="13" name="Shape 11"/>
          <p:cNvSpPr/>
          <p:nvPr/>
        </p:nvSpPr>
        <p:spPr>
          <a:xfrm>
            <a:off x="4709160" y="2468880"/>
            <a:ext cx="4160520" cy="1417320"/>
          </a:xfrm>
          <a:prstGeom prst="roundRect">
            <a:avLst>
              <a:gd name="adj" fmla="val 6452"/>
            </a:avLst>
          </a:prstGeom>
          <a:solidFill>
            <a:srgbClr val="1A2050"/>
          </a:solidFill>
          <a:ln w="12700">
            <a:solidFill>
              <a:srgbClr val="06D6A0"/>
            </a:solidFill>
            <a:prstDash val="solid"/>
          </a:ln>
        </p:spPr>
      </p:sp>
      <p:sp>
        <p:nvSpPr>
          <p:cNvPr id="14" name="Text 12"/>
          <p:cNvSpPr/>
          <p:nvPr/>
        </p:nvSpPr>
        <p:spPr>
          <a:xfrm>
            <a:off x="4846320" y="2542032"/>
            <a:ext cx="3840480" cy="320040"/>
          </a:xfrm>
          <a:prstGeom prst="rect">
            <a:avLst/>
          </a:prstGeom>
          <a:noFill/>
          <a:ln/>
        </p:spPr>
        <p:txBody>
          <a:bodyPr wrap="square" rtlCol="0" anchor="ctr"/>
          <a:lstStyle/>
          <a:p>
            <a:pPr marL="0" indent="0">
              <a:buNone/>
            </a:pPr>
            <a:r>
              <a:rPr lang="en-US" sz="1200" b="1" dirty="0">
                <a:solidFill>
                  <a:srgbClr val="06D6A0"/>
                </a:solidFill>
                <a:latin typeface="Arial" pitchFamily="34" charset="0"/>
                <a:ea typeface="Arial" pitchFamily="34" charset="-122"/>
                <a:cs typeface="Arial" pitchFamily="34" charset="-120"/>
              </a:rPr>
              <a:t>Flight Path Factors</a:t>
            </a:r>
            <a:endParaRPr lang="en-US" sz="1200" dirty="0"/>
          </a:p>
        </p:txBody>
      </p:sp>
      <p:sp>
        <p:nvSpPr>
          <p:cNvPr id="15" name="Text 13"/>
          <p:cNvSpPr/>
          <p:nvPr/>
        </p:nvSpPr>
        <p:spPr>
          <a:xfrm>
            <a:off x="4846320" y="2898648"/>
            <a:ext cx="3840480" cy="91440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AIR_TIME — airborne duration</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DISTANCE — route in miles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TAXI_IN — landing to gate</a:t>
            </a:r>
            <a:endParaRPr lang="en-US" sz="1000" dirty="0"/>
          </a:p>
        </p:txBody>
      </p:sp>
      <p:sp>
        <p:nvSpPr>
          <p:cNvPr id="16" name="Shape 14"/>
          <p:cNvSpPr/>
          <p:nvPr/>
        </p:nvSpPr>
        <p:spPr>
          <a:xfrm>
            <a:off x="228600" y="4005072"/>
            <a:ext cx="8686800" cy="914400"/>
          </a:xfrm>
          <a:prstGeom prst="roundRect">
            <a:avLst>
              <a:gd name="adj" fmla="val 10000"/>
            </a:avLst>
          </a:prstGeom>
          <a:solidFill>
            <a:srgbClr val="4361EE">
              <a:alpha val="25000"/>
            </a:srgbClr>
          </a:solidFill>
          <a:ln w="12700">
            <a:solidFill>
              <a:srgbClr val="4361EE"/>
            </a:solidFill>
            <a:prstDash val="solid"/>
          </a:ln>
        </p:spPr>
      </p:sp>
      <p:sp>
        <p:nvSpPr>
          <p:cNvPr id="17" name="Text 15"/>
          <p:cNvSpPr/>
          <p:nvPr/>
        </p:nvSpPr>
        <p:spPr>
          <a:xfrm>
            <a:off x="365760" y="4087368"/>
            <a:ext cx="5029200" cy="274320"/>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TARGET VARIABLE: ARRIVAL_DELAY (minutes) — regression task</a:t>
            </a:r>
            <a:endParaRPr lang="en-US" sz="1100" dirty="0"/>
          </a:p>
        </p:txBody>
      </p:sp>
      <p:sp>
        <p:nvSpPr>
          <p:cNvPr id="18" name="Text 16"/>
          <p:cNvSpPr/>
          <p:nvPr/>
        </p:nvSpPr>
        <p:spPr>
          <a:xfrm>
            <a:off x="365760" y="4389120"/>
            <a:ext cx="83210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Strong correlation: Departure delay → Arrival delay</a:t>
            </a:r>
            <a:endParaRPr lang="en-US" sz="1000" dirty="0"/>
          </a:p>
        </p:txBody>
      </p:sp>
      <p:sp>
        <p:nvSpPr>
          <p:cNvPr id="19" name="Text 17"/>
          <p:cNvSpPr/>
          <p:nvPr/>
        </p:nvSpPr>
        <p:spPr>
          <a:xfrm>
            <a:off x="5029200" y="4087368"/>
            <a:ext cx="3657600" cy="594360"/>
          </a:xfrm>
          <a:prstGeom prst="rect">
            <a:avLst/>
          </a:prstGeom>
          <a:noFill/>
          <a:ln/>
        </p:spPr>
        <p:txBody>
          <a:bodyPr wrap="square" rtlCol="0" anchor="ctr"/>
          <a:lstStyle/>
          <a:p>
            <a:pPr marL="0" indent="0" algn="r">
              <a:buNone/>
            </a:pPr>
            <a:r>
              <a:rPr lang="en-US" sz="1000" dirty="0">
                <a:solidFill>
                  <a:srgbClr val="FFD166"/>
                </a:solidFill>
                <a:latin typeface="Calibri" pitchFamily="34" charset="0"/>
                <a:ea typeface="Calibri" pitchFamily="34" charset="-122"/>
                <a:cs typeface="Calibri" pitchFamily="34" charset="-120"/>
              </a:rPr>
              <a:t>Includes IQR outlier removal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8229600" cy="384048"/>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TECHNOLOGIES USED &amp; PROJECT WORKFLOW</a:t>
            </a:r>
            <a:endParaRPr lang="en-US" sz="1800" dirty="0"/>
          </a:p>
        </p:txBody>
      </p:sp>
      <p:sp>
        <p:nvSpPr>
          <p:cNvPr id="4" name="Text 2"/>
          <p:cNvSpPr/>
          <p:nvPr/>
        </p:nvSpPr>
        <p:spPr>
          <a:xfrm>
            <a:off x="274320" y="658368"/>
            <a:ext cx="3840480" cy="292608"/>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TECHNOLOGIES USED</a:t>
            </a:r>
            <a:endParaRPr lang="en-US" sz="1100" dirty="0"/>
          </a:p>
        </p:txBody>
      </p:sp>
      <p:sp>
        <p:nvSpPr>
          <p:cNvPr id="5" name="Shape 3"/>
          <p:cNvSpPr/>
          <p:nvPr/>
        </p:nvSpPr>
        <p:spPr>
          <a:xfrm>
            <a:off x="228600" y="1005840"/>
            <a:ext cx="1783080" cy="822960"/>
          </a:xfrm>
          <a:prstGeom prst="roundRect">
            <a:avLst>
              <a:gd name="adj" fmla="val 11111"/>
            </a:avLst>
          </a:prstGeom>
          <a:solidFill>
            <a:srgbClr val="1A2050"/>
          </a:solidFill>
          <a:ln w="12700">
            <a:solidFill>
              <a:srgbClr val="FFD166"/>
            </a:solidFill>
            <a:prstDash val="solid"/>
          </a:ln>
        </p:spPr>
      </p:sp>
      <p:sp>
        <p:nvSpPr>
          <p:cNvPr id="6" name="Text 4"/>
          <p:cNvSpPr/>
          <p:nvPr/>
        </p:nvSpPr>
        <p:spPr>
          <a:xfrm>
            <a:off x="228600" y="1078992"/>
            <a:ext cx="1783080" cy="365760"/>
          </a:xfrm>
          <a:prstGeom prst="rect">
            <a:avLst/>
          </a:prstGeom>
          <a:noFill/>
          <a:ln/>
        </p:spPr>
        <p:txBody>
          <a:bodyPr wrap="square" rtlCol="0" anchor="ctr"/>
          <a:lstStyle/>
          <a:p>
            <a:pPr marL="0" indent="0" algn="ctr">
              <a:buNone/>
            </a:pPr>
            <a:r>
              <a:rPr lang="en-US" sz="1200" b="1" dirty="0">
                <a:solidFill>
                  <a:srgbClr val="FFD166"/>
                </a:solidFill>
                <a:latin typeface="Arial" pitchFamily="34" charset="0"/>
                <a:ea typeface="Arial" pitchFamily="34" charset="-122"/>
                <a:cs typeface="Arial" pitchFamily="34" charset="-120"/>
              </a:rPr>
              <a:t>Python</a:t>
            </a:r>
            <a:endParaRPr lang="en-US" sz="1200" dirty="0"/>
          </a:p>
        </p:txBody>
      </p:sp>
      <p:sp>
        <p:nvSpPr>
          <p:cNvPr id="7" name="Text 5"/>
          <p:cNvSpPr/>
          <p:nvPr/>
        </p:nvSpPr>
        <p:spPr>
          <a:xfrm>
            <a:off x="228600" y="1463040"/>
            <a:ext cx="1783080" cy="274320"/>
          </a:xfrm>
          <a:prstGeom prst="rect">
            <a:avLst/>
          </a:prstGeom>
          <a:noFill/>
          <a:ln/>
        </p:spPr>
        <p:txBody>
          <a:bodyPr wrap="square" rtlCol="0" anchor="ctr"/>
          <a:lstStyle/>
          <a:p>
            <a:pPr marL="0" indent="0" algn="ctr">
              <a:buNone/>
            </a:pPr>
            <a:r>
              <a:rPr lang="en-US" sz="900" dirty="0">
                <a:solidFill>
                  <a:srgbClr val="8892B0"/>
                </a:solidFill>
                <a:latin typeface="Calibri" pitchFamily="34" charset="0"/>
                <a:ea typeface="Calibri" pitchFamily="34" charset="-122"/>
                <a:cs typeface="Calibri" pitchFamily="34" charset="-120"/>
              </a:rPr>
              <a:t>Core language</a:t>
            </a:r>
            <a:endParaRPr lang="en-US" sz="900" dirty="0"/>
          </a:p>
        </p:txBody>
      </p:sp>
      <p:sp>
        <p:nvSpPr>
          <p:cNvPr id="8" name="Shape 6"/>
          <p:cNvSpPr/>
          <p:nvPr/>
        </p:nvSpPr>
        <p:spPr>
          <a:xfrm>
            <a:off x="2194560" y="1005840"/>
            <a:ext cx="1783080" cy="822960"/>
          </a:xfrm>
          <a:prstGeom prst="roundRect">
            <a:avLst>
              <a:gd name="adj" fmla="val 11111"/>
            </a:avLst>
          </a:prstGeom>
          <a:solidFill>
            <a:srgbClr val="1A2050"/>
          </a:solidFill>
          <a:ln w="12700">
            <a:solidFill>
              <a:srgbClr val="00D4FF"/>
            </a:solidFill>
            <a:prstDash val="solid"/>
          </a:ln>
        </p:spPr>
      </p:sp>
      <p:sp>
        <p:nvSpPr>
          <p:cNvPr id="9" name="Text 7"/>
          <p:cNvSpPr/>
          <p:nvPr/>
        </p:nvSpPr>
        <p:spPr>
          <a:xfrm>
            <a:off x="2194560" y="1078992"/>
            <a:ext cx="1783080" cy="365760"/>
          </a:xfrm>
          <a:prstGeom prst="rect">
            <a:avLst/>
          </a:prstGeom>
          <a:noFill/>
          <a:ln/>
        </p:spPr>
        <p:txBody>
          <a:bodyPr wrap="square" rtlCol="0" anchor="ctr"/>
          <a:lstStyle/>
          <a:p>
            <a:pPr marL="0" indent="0" algn="ctr">
              <a:buNone/>
            </a:pPr>
            <a:r>
              <a:rPr lang="en-US" sz="1200" b="1" dirty="0">
                <a:solidFill>
                  <a:srgbClr val="00D4FF"/>
                </a:solidFill>
                <a:latin typeface="Arial" pitchFamily="34" charset="0"/>
                <a:ea typeface="Arial" pitchFamily="34" charset="-122"/>
                <a:cs typeface="Arial" pitchFamily="34" charset="-120"/>
              </a:rPr>
              <a:t>Pandas</a:t>
            </a:r>
            <a:endParaRPr lang="en-US" sz="1200" dirty="0"/>
          </a:p>
        </p:txBody>
      </p:sp>
      <p:sp>
        <p:nvSpPr>
          <p:cNvPr id="10" name="Text 8"/>
          <p:cNvSpPr/>
          <p:nvPr/>
        </p:nvSpPr>
        <p:spPr>
          <a:xfrm>
            <a:off x="2194560" y="1463040"/>
            <a:ext cx="1783080" cy="274320"/>
          </a:xfrm>
          <a:prstGeom prst="rect">
            <a:avLst/>
          </a:prstGeom>
          <a:noFill/>
          <a:ln/>
        </p:spPr>
        <p:txBody>
          <a:bodyPr wrap="square" rtlCol="0" anchor="ctr"/>
          <a:lstStyle/>
          <a:p>
            <a:pPr marL="0" indent="0" algn="ctr">
              <a:buNone/>
            </a:pPr>
            <a:r>
              <a:rPr lang="en-US" sz="900" dirty="0">
                <a:solidFill>
                  <a:srgbClr val="8892B0"/>
                </a:solidFill>
                <a:latin typeface="Calibri" pitchFamily="34" charset="0"/>
                <a:ea typeface="Calibri" pitchFamily="34" charset="-122"/>
                <a:cs typeface="Calibri" pitchFamily="34" charset="-120"/>
              </a:rPr>
              <a:t>Data manipulation</a:t>
            </a:r>
            <a:endParaRPr lang="en-US" sz="900" dirty="0"/>
          </a:p>
        </p:txBody>
      </p:sp>
      <p:sp>
        <p:nvSpPr>
          <p:cNvPr id="11" name="Shape 9"/>
          <p:cNvSpPr/>
          <p:nvPr/>
        </p:nvSpPr>
        <p:spPr>
          <a:xfrm>
            <a:off x="228600" y="1965960"/>
            <a:ext cx="1783080" cy="822960"/>
          </a:xfrm>
          <a:prstGeom prst="roundRect">
            <a:avLst>
              <a:gd name="adj" fmla="val 11111"/>
            </a:avLst>
          </a:prstGeom>
          <a:solidFill>
            <a:srgbClr val="1A2050"/>
          </a:solidFill>
          <a:ln w="12700">
            <a:solidFill>
              <a:srgbClr val="06D6A0"/>
            </a:solidFill>
            <a:prstDash val="solid"/>
          </a:ln>
        </p:spPr>
      </p:sp>
      <p:sp>
        <p:nvSpPr>
          <p:cNvPr id="12" name="Text 10"/>
          <p:cNvSpPr/>
          <p:nvPr/>
        </p:nvSpPr>
        <p:spPr>
          <a:xfrm>
            <a:off x="228600" y="2039112"/>
            <a:ext cx="1783080" cy="365760"/>
          </a:xfrm>
          <a:prstGeom prst="rect">
            <a:avLst/>
          </a:prstGeom>
          <a:noFill/>
          <a:ln/>
        </p:spPr>
        <p:txBody>
          <a:bodyPr wrap="square" rtlCol="0" anchor="ctr"/>
          <a:lstStyle/>
          <a:p>
            <a:pPr marL="0" indent="0" algn="ctr">
              <a:buNone/>
            </a:pPr>
            <a:r>
              <a:rPr lang="en-US" sz="1200" b="1" dirty="0">
                <a:solidFill>
                  <a:srgbClr val="06D6A0"/>
                </a:solidFill>
                <a:latin typeface="Arial" pitchFamily="34" charset="0"/>
                <a:ea typeface="Arial" pitchFamily="34" charset="-122"/>
                <a:cs typeface="Arial" pitchFamily="34" charset="-120"/>
              </a:rPr>
              <a:t>NumPy</a:t>
            </a:r>
            <a:endParaRPr lang="en-US" sz="1200" dirty="0"/>
          </a:p>
        </p:txBody>
      </p:sp>
      <p:sp>
        <p:nvSpPr>
          <p:cNvPr id="13" name="Text 11"/>
          <p:cNvSpPr/>
          <p:nvPr/>
        </p:nvSpPr>
        <p:spPr>
          <a:xfrm>
            <a:off x="228600" y="2423160"/>
            <a:ext cx="1783080" cy="274320"/>
          </a:xfrm>
          <a:prstGeom prst="rect">
            <a:avLst/>
          </a:prstGeom>
          <a:noFill/>
          <a:ln/>
        </p:spPr>
        <p:txBody>
          <a:bodyPr wrap="square" rtlCol="0" anchor="ctr"/>
          <a:lstStyle/>
          <a:p>
            <a:pPr marL="0" indent="0" algn="ctr">
              <a:buNone/>
            </a:pPr>
            <a:r>
              <a:rPr lang="en-US" sz="900" dirty="0">
                <a:solidFill>
                  <a:srgbClr val="8892B0"/>
                </a:solidFill>
                <a:latin typeface="Calibri" pitchFamily="34" charset="0"/>
                <a:ea typeface="Calibri" pitchFamily="34" charset="-122"/>
                <a:cs typeface="Calibri" pitchFamily="34" charset="-120"/>
              </a:rPr>
              <a:t>Numerical ops</a:t>
            </a:r>
            <a:endParaRPr lang="en-US" sz="900" dirty="0"/>
          </a:p>
        </p:txBody>
      </p:sp>
      <p:sp>
        <p:nvSpPr>
          <p:cNvPr id="14" name="Shape 12"/>
          <p:cNvSpPr/>
          <p:nvPr/>
        </p:nvSpPr>
        <p:spPr>
          <a:xfrm>
            <a:off x="2194560" y="1965960"/>
            <a:ext cx="1783080" cy="822960"/>
          </a:xfrm>
          <a:prstGeom prst="roundRect">
            <a:avLst>
              <a:gd name="adj" fmla="val 11111"/>
            </a:avLst>
          </a:prstGeom>
          <a:solidFill>
            <a:srgbClr val="1A2050"/>
          </a:solidFill>
          <a:ln w="12700">
            <a:solidFill>
              <a:srgbClr val="4361EE"/>
            </a:solidFill>
            <a:prstDash val="solid"/>
          </a:ln>
        </p:spPr>
      </p:sp>
      <p:sp>
        <p:nvSpPr>
          <p:cNvPr id="15" name="Text 13"/>
          <p:cNvSpPr/>
          <p:nvPr/>
        </p:nvSpPr>
        <p:spPr>
          <a:xfrm>
            <a:off x="2194560" y="2039112"/>
            <a:ext cx="1783080" cy="365760"/>
          </a:xfrm>
          <a:prstGeom prst="rect">
            <a:avLst/>
          </a:prstGeom>
          <a:noFill/>
          <a:ln/>
        </p:spPr>
        <p:txBody>
          <a:bodyPr wrap="square" rtlCol="0" anchor="ctr"/>
          <a:lstStyle/>
          <a:p>
            <a:pPr marL="0" indent="0" algn="ctr">
              <a:buNone/>
            </a:pPr>
            <a:r>
              <a:rPr lang="en-US" sz="1200" b="1" dirty="0">
                <a:solidFill>
                  <a:srgbClr val="4361EE"/>
                </a:solidFill>
                <a:latin typeface="Arial" pitchFamily="34" charset="0"/>
                <a:ea typeface="Arial" pitchFamily="34" charset="-122"/>
                <a:cs typeface="Arial" pitchFamily="34" charset="-120"/>
              </a:rPr>
              <a:t>Matplotlib</a:t>
            </a:r>
            <a:endParaRPr lang="en-US" sz="1200" dirty="0"/>
          </a:p>
        </p:txBody>
      </p:sp>
      <p:sp>
        <p:nvSpPr>
          <p:cNvPr id="16" name="Text 14"/>
          <p:cNvSpPr/>
          <p:nvPr/>
        </p:nvSpPr>
        <p:spPr>
          <a:xfrm>
            <a:off x="2194560" y="2423160"/>
            <a:ext cx="1783080" cy="274320"/>
          </a:xfrm>
          <a:prstGeom prst="rect">
            <a:avLst/>
          </a:prstGeom>
          <a:noFill/>
          <a:ln/>
        </p:spPr>
        <p:txBody>
          <a:bodyPr wrap="square" rtlCol="0" anchor="ctr"/>
          <a:lstStyle/>
          <a:p>
            <a:pPr marL="0" indent="0" algn="ctr">
              <a:buNone/>
            </a:pPr>
            <a:r>
              <a:rPr lang="en-US" sz="900" dirty="0">
                <a:solidFill>
                  <a:srgbClr val="8892B0"/>
                </a:solidFill>
                <a:latin typeface="Calibri" pitchFamily="34" charset="0"/>
                <a:ea typeface="Calibri" pitchFamily="34" charset="-122"/>
                <a:cs typeface="Calibri" pitchFamily="34" charset="-120"/>
              </a:rPr>
              <a:t>Visualization</a:t>
            </a:r>
            <a:endParaRPr lang="en-US" sz="900" dirty="0"/>
          </a:p>
        </p:txBody>
      </p:sp>
      <p:sp>
        <p:nvSpPr>
          <p:cNvPr id="17" name="Shape 15"/>
          <p:cNvSpPr/>
          <p:nvPr/>
        </p:nvSpPr>
        <p:spPr>
          <a:xfrm>
            <a:off x="228600" y="2926080"/>
            <a:ext cx="1783080" cy="822960"/>
          </a:xfrm>
          <a:prstGeom prst="roundRect">
            <a:avLst>
              <a:gd name="adj" fmla="val 11111"/>
            </a:avLst>
          </a:prstGeom>
          <a:solidFill>
            <a:srgbClr val="1A2050"/>
          </a:solidFill>
          <a:ln w="12700">
            <a:solidFill>
              <a:srgbClr val="7B2FBE"/>
            </a:solidFill>
            <a:prstDash val="solid"/>
          </a:ln>
        </p:spPr>
      </p:sp>
      <p:sp>
        <p:nvSpPr>
          <p:cNvPr id="18" name="Text 16"/>
          <p:cNvSpPr/>
          <p:nvPr/>
        </p:nvSpPr>
        <p:spPr>
          <a:xfrm>
            <a:off x="228600" y="2999232"/>
            <a:ext cx="1783080" cy="365760"/>
          </a:xfrm>
          <a:prstGeom prst="rect">
            <a:avLst/>
          </a:prstGeom>
          <a:noFill/>
          <a:ln/>
        </p:spPr>
        <p:txBody>
          <a:bodyPr wrap="square" rtlCol="0" anchor="ctr"/>
          <a:lstStyle/>
          <a:p>
            <a:pPr marL="0" indent="0" algn="ctr">
              <a:buNone/>
            </a:pPr>
            <a:r>
              <a:rPr lang="en-US" sz="1200" b="1" dirty="0">
                <a:solidFill>
                  <a:srgbClr val="7B2FBE"/>
                </a:solidFill>
                <a:latin typeface="Arial" pitchFamily="34" charset="0"/>
                <a:ea typeface="Arial" pitchFamily="34" charset="-122"/>
                <a:cs typeface="Arial" pitchFamily="34" charset="-120"/>
              </a:rPr>
              <a:t>Scikit-Learn</a:t>
            </a:r>
            <a:endParaRPr lang="en-US" sz="1200" dirty="0"/>
          </a:p>
        </p:txBody>
      </p:sp>
      <p:sp>
        <p:nvSpPr>
          <p:cNvPr id="19" name="Text 17"/>
          <p:cNvSpPr/>
          <p:nvPr/>
        </p:nvSpPr>
        <p:spPr>
          <a:xfrm>
            <a:off x="228600" y="3383280"/>
            <a:ext cx="1783080" cy="274320"/>
          </a:xfrm>
          <a:prstGeom prst="rect">
            <a:avLst/>
          </a:prstGeom>
          <a:noFill/>
          <a:ln/>
        </p:spPr>
        <p:txBody>
          <a:bodyPr wrap="square" rtlCol="0" anchor="ctr"/>
          <a:lstStyle/>
          <a:p>
            <a:pPr marL="0" indent="0" algn="ctr">
              <a:buNone/>
            </a:pPr>
            <a:r>
              <a:rPr lang="en-US" sz="900" dirty="0">
                <a:solidFill>
                  <a:srgbClr val="8892B0"/>
                </a:solidFill>
                <a:latin typeface="Calibri" pitchFamily="34" charset="0"/>
                <a:ea typeface="Calibri" pitchFamily="34" charset="-122"/>
                <a:cs typeface="Calibri" pitchFamily="34" charset="-120"/>
              </a:rPr>
              <a:t>ML algorithms</a:t>
            </a:r>
            <a:endParaRPr lang="en-US" sz="900" dirty="0"/>
          </a:p>
        </p:txBody>
      </p:sp>
      <p:sp>
        <p:nvSpPr>
          <p:cNvPr id="20" name="Text 18"/>
          <p:cNvSpPr/>
          <p:nvPr/>
        </p:nvSpPr>
        <p:spPr>
          <a:xfrm>
            <a:off x="4297680" y="658368"/>
            <a:ext cx="4572000" cy="292608"/>
          </a:xfrm>
          <a:prstGeom prst="rect">
            <a:avLst/>
          </a:prstGeom>
          <a:noFill/>
          <a:ln/>
        </p:spPr>
        <p:txBody>
          <a:bodyPr wrap="square" rtlCol="0" anchor="ctr"/>
          <a:lstStyle/>
          <a:p>
            <a:pPr marL="0" indent="0">
              <a:buNone/>
            </a:pPr>
            <a:r>
              <a:rPr lang="en-US" sz="1100" b="1" dirty="0">
                <a:solidFill>
                  <a:srgbClr val="FFD166"/>
                </a:solidFill>
                <a:latin typeface="Arial" pitchFamily="34" charset="0"/>
                <a:ea typeface="Arial" pitchFamily="34" charset="-122"/>
                <a:cs typeface="Arial" pitchFamily="34" charset="-120"/>
              </a:rPr>
              <a:t>PROJECT WORKFLOW</a:t>
            </a:r>
            <a:endParaRPr lang="en-US" sz="1100" dirty="0"/>
          </a:p>
        </p:txBody>
      </p:sp>
      <p:sp>
        <p:nvSpPr>
          <p:cNvPr id="21" name="Shape 19"/>
          <p:cNvSpPr/>
          <p:nvPr/>
        </p:nvSpPr>
        <p:spPr>
          <a:xfrm>
            <a:off x="4206240" y="914400"/>
            <a:ext cx="411480" cy="411480"/>
          </a:xfrm>
          <a:prstGeom prst="roundRect">
            <a:avLst>
              <a:gd name="adj" fmla="val 11111"/>
            </a:avLst>
          </a:prstGeom>
          <a:solidFill>
            <a:srgbClr val="4361EE"/>
          </a:solidFill>
          <a:ln w="12700">
            <a:solidFill>
              <a:srgbClr val="000000"/>
            </a:solidFill>
            <a:prstDash val="solid"/>
          </a:ln>
        </p:spPr>
      </p:sp>
      <p:sp>
        <p:nvSpPr>
          <p:cNvPr id="22" name="Text 20"/>
          <p:cNvSpPr/>
          <p:nvPr/>
        </p:nvSpPr>
        <p:spPr>
          <a:xfrm>
            <a:off x="4206240" y="914400"/>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3" name="Shape 21"/>
          <p:cNvSpPr/>
          <p:nvPr/>
        </p:nvSpPr>
        <p:spPr>
          <a:xfrm>
            <a:off x="4709160" y="914400"/>
            <a:ext cx="4160520" cy="530352"/>
          </a:xfrm>
          <a:prstGeom prst="roundRect">
            <a:avLst>
              <a:gd name="adj" fmla="val 13793"/>
            </a:avLst>
          </a:prstGeom>
          <a:solidFill>
            <a:srgbClr val="1A2050"/>
          </a:solidFill>
          <a:ln w="12700">
            <a:solidFill>
              <a:srgbClr val="6272A4"/>
            </a:solidFill>
            <a:prstDash val="solid"/>
          </a:ln>
        </p:spPr>
      </p:sp>
      <p:sp>
        <p:nvSpPr>
          <p:cNvPr id="24" name="Text 22"/>
          <p:cNvSpPr/>
          <p:nvPr/>
        </p:nvSpPr>
        <p:spPr>
          <a:xfrm>
            <a:off x="4828032" y="950976"/>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Data Collection</a:t>
            </a:r>
            <a:endParaRPr lang="en-US" sz="1000" dirty="0"/>
          </a:p>
        </p:txBody>
      </p:sp>
      <p:sp>
        <p:nvSpPr>
          <p:cNvPr id="25" name="Text 23"/>
          <p:cNvSpPr/>
          <p:nvPr/>
        </p:nvSpPr>
        <p:spPr>
          <a:xfrm>
            <a:off x="4828032" y="1188720"/>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flights.csv + airports.csv (US DOT BTS)</a:t>
            </a:r>
            <a:endParaRPr lang="en-US" sz="900" dirty="0"/>
          </a:p>
        </p:txBody>
      </p:sp>
      <p:sp>
        <p:nvSpPr>
          <p:cNvPr id="26" name="Shape 24"/>
          <p:cNvSpPr/>
          <p:nvPr/>
        </p:nvSpPr>
        <p:spPr>
          <a:xfrm>
            <a:off x="4206240" y="1627632"/>
            <a:ext cx="411480" cy="411480"/>
          </a:xfrm>
          <a:prstGeom prst="roundRect">
            <a:avLst>
              <a:gd name="adj" fmla="val 11111"/>
            </a:avLst>
          </a:prstGeom>
          <a:solidFill>
            <a:srgbClr val="4361EE"/>
          </a:solidFill>
          <a:ln w="12700">
            <a:solidFill>
              <a:srgbClr val="000000"/>
            </a:solidFill>
            <a:prstDash val="solid"/>
          </a:ln>
        </p:spPr>
      </p:sp>
      <p:sp>
        <p:nvSpPr>
          <p:cNvPr id="27" name="Text 25"/>
          <p:cNvSpPr/>
          <p:nvPr/>
        </p:nvSpPr>
        <p:spPr>
          <a:xfrm>
            <a:off x="4206240" y="1627632"/>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8" name="Shape 26"/>
          <p:cNvSpPr/>
          <p:nvPr/>
        </p:nvSpPr>
        <p:spPr>
          <a:xfrm>
            <a:off x="4709160" y="1627632"/>
            <a:ext cx="4160520" cy="530352"/>
          </a:xfrm>
          <a:prstGeom prst="roundRect">
            <a:avLst>
              <a:gd name="adj" fmla="val 13793"/>
            </a:avLst>
          </a:prstGeom>
          <a:solidFill>
            <a:srgbClr val="1A2050"/>
          </a:solidFill>
          <a:ln w="12700">
            <a:solidFill>
              <a:srgbClr val="6272A4"/>
            </a:solidFill>
            <a:prstDash val="solid"/>
          </a:ln>
        </p:spPr>
      </p:sp>
      <p:sp>
        <p:nvSpPr>
          <p:cNvPr id="29" name="Text 27"/>
          <p:cNvSpPr/>
          <p:nvPr/>
        </p:nvSpPr>
        <p:spPr>
          <a:xfrm>
            <a:off x="4828032" y="1664208"/>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Data Preprocessing</a:t>
            </a:r>
            <a:endParaRPr lang="en-US" sz="1000" dirty="0"/>
          </a:p>
        </p:txBody>
      </p:sp>
      <p:sp>
        <p:nvSpPr>
          <p:cNvPr id="30" name="Text 28"/>
          <p:cNvSpPr/>
          <p:nvPr/>
        </p:nvSpPr>
        <p:spPr>
          <a:xfrm>
            <a:off x="4828032" y="1901952"/>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Drop duplicates, dropna, IQR outlier removal</a:t>
            </a:r>
            <a:endParaRPr lang="en-US" sz="900" dirty="0"/>
          </a:p>
        </p:txBody>
      </p:sp>
      <p:sp>
        <p:nvSpPr>
          <p:cNvPr id="31" name="Shape 29"/>
          <p:cNvSpPr/>
          <p:nvPr/>
        </p:nvSpPr>
        <p:spPr>
          <a:xfrm>
            <a:off x="4206240" y="2340864"/>
            <a:ext cx="411480" cy="411480"/>
          </a:xfrm>
          <a:prstGeom prst="roundRect">
            <a:avLst>
              <a:gd name="adj" fmla="val 11111"/>
            </a:avLst>
          </a:prstGeom>
          <a:solidFill>
            <a:srgbClr val="4361EE"/>
          </a:solidFill>
          <a:ln w="12700">
            <a:solidFill>
              <a:srgbClr val="000000"/>
            </a:solidFill>
            <a:prstDash val="solid"/>
          </a:ln>
        </p:spPr>
      </p:sp>
      <p:sp>
        <p:nvSpPr>
          <p:cNvPr id="32" name="Text 30"/>
          <p:cNvSpPr/>
          <p:nvPr/>
        </p:nvSpPr>
        <p:spPr>
          <a:xfrm>
            <a:off x="4206240" y="2340864"/>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3" name="Shape 31"/>
          <p:cNvSpPr/>
          <p:nvPr/>
        </p:nvSpPr>
        <p:spPr>
          <a:xfrm>
            <a:off x="4709160" y="2340864"/>
            <a:ext cx="4160520" cy="530352"/>
          </a:xfrm>
          <a:prstGeom prst="roundRect">
            <a:avLst>
              <a:gd name="adj" fmla="val 13793"/>
            </a:avLst>
          </a:prstGeom>
          <a:solidFill>
            <a:srgbClr val="1A2050"/>
          </a:solidFill>
          <a:ln w="12700">
            <a:solidFill>
              <a:srgbClr val="6272A4"/>
            </a:solidFill>
            <a:prstDash val="solid"/>
          </a:ln>
        </p:spPr>
      </p:sp>
      <p:sp>
        <p:nvSpPr>
          <p:cNvPr id="34" name="Text 32"/>
          <p:cNvSpPr/>
          <p:nvPr/>
        </p:nvSpPr>
        <p:spPr>
          <a:xfrm>
            <a:off x="4828032" y="2377440"/>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Exploratory Analysis</a:t>
            </a:r>
            <a:endParaRPr lang="en-US" sz="1000" dirty="0"/>
          </a:p>
        </p:txBody>
      </p:sp>
      <p:sp>
        <p:nvSpPr>
          <p:cNvPr id="35" name="Text 33"/>
          <p:cNvSpPr/>
          <p:nvPr/>
        </p:nvSpPr>
        <p:spPr>
          <a:xfrm>
            <a:off x="4828032" y="2615184"/>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Descriptive stats, delay distribution histogram</a:t>
            </a:r>
            <a:endParaRPr lang="en-US" sz="900" dirty="0"/>
          </a:p>
        </p:txBody>
      </p:sp>
      <p:sp>
        <p:nvSpPr>
          <p:cNvPr id="36" name="Shape 34"/>
          <p:cNvSpPr/>
          <p:nvPr/>
        </p:nvSpPr>
        <p:spPr>
          <a:xfrm>
            <a:off x="4206240" y="3054096"/>
            <a:ext cx="411480" cy="411480"/>
          </a:xfrm>
          <a:prstGeom prst="roundRect">
            <a:avLst>
              <a:gd name="adj" fmla="val 11111"/>
            </a:avLst>
          </a:prstGeom>
          <a:solidFill>
            <a:srgbClr val="4361EE"/>
          </a:solidFill>
          <a:ln w="12700">
            <a:solidFill>
              <a:srgbClr val="000000"/>
            </a:solidFill>
            <a:prstDash val="solid"/>
          </a:ln>
        </p:spPr>
      </p:sp>
      <p:sp>
        <p:nvSpPr>
          <p:cNvPr id="37" name="Text 35"/>
          <p:cNvSpPr/>
          <p:nvPr/>
        </p:nvSpPr>
        <p:spPr>
          <a:xfrm>
            <a:off x="4206240" y="3054096"/>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8" name="Shape 36"/>
          <p:cNvSpPr/>
          <p:nvPr/>
        </p:nvSpPr>
        <p:spPr>
          <a:xfrm>
            <a:off x="4709160" y="3054096"/>
            <a:ext cx="4160520" cy="530352"/>
          </a:xfrm>
          <a:prstGeom prst="roundRect">
            <a:avLst>
              <a:gd name="adj" fmla="val 13793"/>
            </a:avLst>
          </a:prstGeom>
          <a:solidFill>
            <a:srgbClr val="1A2050"/>
          </a:solidFill>
          <a:ln w="12700">
            <a:solidFill>
              <a:srgbClr val="6272A4"/>
            </a:solidFill>
            <a:prstDash val="solid"/>
          </a:ln>
        </p:spPr>
      </p:sp>
      <p:sp>
        <p:nvSpPr>
          <p:cNvPr id="39" name="Text 37"/>
          <p:cNvSpPr/>
          <p:nvPr/>
        </p:nvSpPr>
        <p:spPr>
          <a:xfrm>
            <a:off x="4828032" y="3090672"/>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Model Training</a:t>
            </a:r>
            <a:endParaRPr lang="en-US" sz="1000" dirty="0"/>
          </a:p>
        </p:txBody>
      </p:sp>
      <p:sp>
        <p:nvSpPr>
          <p:cNvPr id="40" name="Text 38"/>
          <p:cNvSpPr/>
          <p:nvPr/>
        </p:nvSpPr>
        <p:spPr>
          <a:xfrm>
            <a:off x="4828032" y="3328416"/>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Linear Regression on 5 flight features</a:t>
            </a:r>
            <a:endParaRPr lang="en-US" sz="900" dirty="0"/>
          </a:p>
        </p:txBody>
      </p:sp>
      <p:sp>
        <p:nvSpPr>
          <p:cNvPr id="41" name="Shape 39"/>
          <p:cNvSpPr/>
          <p:nvPr/>
        </p:nvSpPr>
        <p:spPr>
          <a:xfrm>
            <a:off x="4206240" y="3767328"/>
            <a:ext cx="411480" cy="411480"/>
          </a:xfrm>
          <a:prstGeom prst="roundRect">
            <a:avLst>
              <a:gd name="adj" fmla="val 11111"/>
            </a:avLst>
          </a:prstGeom>
          <a:solidFill>
            <a:srgbClr val="4361EE"/>
          </a:solidFill>
          <a:ln w="12700">
            <a:solidFill>
              <a:srgbClr val="000000"/>
            </a:solidFill>
            <a:prstDash val="solid"/>
          </a:ln>
        </p:spPr>
      </p:sp>
      <p:sp>
        <p:nvSpPr>
          <p:cNvPr id="42" name="Text 40"/>
          <p:cNvSpPr/>
          <p:nvPr/>
        </p:nvSpPr>
        <p:spPr>
          <a:xfrm>
            <a:off x="4206240" y="3767328"/>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3" name="Shape 41"/>
          <p:cNvSpPr/>
          <p:nvPr/>
        </p:nvSpPr>
        <p:spPr>
          <a:xfrm>
            <a:off x="4709160" y="3767328"/>
            <a:ext cx="4160520" cy="530352"/>
          </a:xfrm>
          <a:prstGeom prst="roundRect">
            <a:avLst>
              <a:gd name="adj" fmla="val 13793"/>
            </a:avLst>
          </a:prstGeom>
          <a:solidFill>
            <a:srgbClr val="1A2050"/>
          </a:solidFill>
          <a:ln w="12700">
            <a:solidFill>
              <a:srgbClr val="6272A4"/>
            </a:solidFill>
            <a:prstDash val="solid"/>
          </a:ln>
        </p:spPr>
      </p:sp>
      <p:sp>
        <p:nvSpPr>
          <p:cNvPr id="44" name="Text 42"/>
          <p:cNvSpPr/>
          <p:nvPr/>
        </p:nvSpPr>
        <p:spPr>
          <a:xfrm>
            <a:off x="4828032" y="3803904"/>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Model Evaluation</a:t>
            </a:r>
            <a:endParaRPr lang="en-US" sz="1000" dirty="0"/>
          </a:p>
        </p:txBody>
      </p:sp>
      <p:sp>
        <p:nvSpPr>
          <p:cNvPr id="45" name="Text 43"/>
          <p:cNvSpPr/>
          <p:nvPr/>
        </p:nvSpPr>
        <p:spPr>
          <a:xfrm>
            <a:off x="4828032" y="4041648"/>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MAE, MSE, R² Score on 20% test split</a:t>
            </a:r>
            <a:endParaRPr lang="en-US" sz="900" dirty="0"/>
          </a:p>
        </p:txBody>
      </p:sp>
      <p:sp>
        <p:nvSpPr>
          <p:cNvPr id="46" name="Shape 44"/>
          <p:cNvSpPr/>
          <p:nvPr/>
        </p:nvSpPr>
        <p:spPr>
          <a:xfrm>
            <a:off x="4206240" y="4480560"/>
            <a:ext cx="411480" cy="411480"/>
          </a:xfrm>
          <a:prstGeom prst="roundRect">
            <a:avLst>
              <a:gd name="adj" fmla="val 11111"/>
            </a:avLst>
          </a:prstGeom>
          <a:solidFill>
            <a:srgbClr val="4361EE"/>
          </a:solidFill>
          <a:ln w="12700">
            <a:solidFill>
              <a:srgbClr val="000000"/>
            </a:solidFill>
            <a:prstDash val="solid"/>
          </a:ln>
        </p:spPr>
      </p:sp>
      <p:sp>
        <p:nvSpPr>
          <p:cNvPr id="47" name="Text 45"/>
          <p:cNvSpPr/>
          <p:nvPr/>
        </p:nvSpPr>
        <p:spPr>
          <a:xfrm>
            <a:off x="4206240" y="4480560"/>
            <a:ext cx="41148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8" name="Shape 46"/>
          <p:cNvSpPr/>
          <p:nvPr/>
        </p:nvSpPr>
        <p:spPr>
          <a:xfrm>
            <a:off x="4709160" y="4480560"/>
            <a:ext cx="4160520" cy="530352"/>
          </a:xfrm>
          <a:prstGeom prst="roundRect">
            <a:avLst>
              <a:gd name="adj" fmla="val 13793"/>
            </a:avLst>
          </a:prstGeom>
          <a:solidFill>
            <a:srgbClr val="1A2050"/>
          </a:solidFill>
          <a:ln w="12700">
            <a:solidFill>
              <a:srgbClr val="6272A4"/>
            </a:solidFill>
            <a:prstDash val="solid"/>
          </a:ln>
        </p:spPr>
      </p:sp>
      <p:sp>
        <p:nvSpPr>
          <p:cNvPr id="49" name="Text 47"/>
          <p:cNvSpPr/>
          <p:nvPr/>
        </p:nvSpPr>
        <p:spPr>
          <a:xfrm>
            <a:off x="4828032" y="4517136"/>
            <a:ext cx="3840480" cy="22860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Results &amp; Insights</a:t>
            </a:r>
            <a:endParaRPr lang="en-US" sz="1000" dirty="0"/>
          </a:p>
        </p:txBody>
      </p:sp>
      <p:sp>
        <p:nvSpPr>
          <p:cNvPr id="50" name="Text 48"/>
          <p:cNvSpPr/>
          <p:nvPr/>
        </p:nvSpPr>
        <p:spPr>
          <a:xfrm>
            <a:off x="4828032" y="4754880"/>
            <a:ext cx="3840480" cy="201168"/>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Feature coefficients, best predictor selection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8229600" cy="384048"/>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DATA PREPROCESSING &amp; STATISTICAL ANALYSIS</a:t>
            </a:r>
            <a:endParaRPr lang="en-US" sz="1600" dirty="0"/>
          </a:p>
        </p:txBody>
      </p:sp>
      <p:sp>
        <p:nvSpPr>
          <p:cNvPr id="4" name="Text 2"/>
          <p:cNvSpPr/>
          <p:nvPr/>
        </p:nvSpPr>
        <p:spPr>
          <a:xfrm>
            <a:off x="274320" y="685800"/>
            <a:ext cx="4023360" cy="292608"/>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DATA PREPROCESSING</a:t>
            </a:r>
            <a:endParaRPr lang="en-US" sz="1100" dirty="0"/>
          </a:p>
        </p:txBody>
      </p:sp>
      <p:sp>
        <p:nvSpPr>
          <p:cNvPr id="5" name="Shape 3"/>
          <p:cNvSpPr/>
          <p:nvPr/>
        </p:nvSpPr>
        <p:spPr>
          <a:xfrm>
            <a:off x="228600" y="1024128"/>
            <a:ext cx="4023360" cy="658368"/>
          </a:xfrm>
          <a:prstGeom prst="roundRect">
            <a:avLst>
              <a:gd name="adj" fmla="val 11111"/>
            </a:avLst>
          </a:prstGeom>
          <a:solidFill>
            <a:srgbClr val="1A2050"/>
          </a:solidFill>
          <a:ln w="12700">
            <a:solidFill>
              <a:srgbClr val="4361EE"/>
            </a:solidFill>
            <a:prstDash val="solid"/>
          </a:ln>
        </p:spPr>
      </p:sp>
      <p:sp>
        <p:nvSpPr>
          <p:cNvPr id="6" name="Text 4"/>
          <p:cNvSpPr/>
          <p:nvPr/>
        </p:nvSpPr>
        <p:spPr>
          <a:xfrm>
            <a:off x="384048" y="1078992"/>
            <a:ext cx="374904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Duplicate Removal</a:t>
            </a:r>
            <a:endParaRPr lang="en-US" sz="1000" dirty="0"/>
          </a:p>
        </p:txBody>
      </p:sp>
      <p:sp>
        <p:nvSpPr>
          <p:cNvPr id="7" name="Text 5"/>
          <p:cNvSpPr/>
          <p:nvPr/>
        </p:nvSpPr>
        <p:spPr>
          <a:xfrm>
            <a:off x="384048" y="1335024"/>
            <a:ext cx="3749040" cy="256032"/>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df.drop_duplicates() — ensures clean records</a:t>
            </a:r>
            <a:endParaRPr lang="en-US" sz="900" dirty="0"/>
          </a:p>
        </p:txBody>
      </p:sp>
      <p:sp>
        <p:nvSpPr>
          <p:cNvPr id="8" name="Shape 6"/>
          <p:cNvSpPr/>
          <p:nvPr/>
        </p:nvSpPr>
        <p:spPr>
          <a:xfrm>
            <a:off x="228600" y="1792224"/>
            <a:ext cx="4023360" cy="658368"/>
          </a:xfrm>
          <a:prstGeom prst="roundRect">
            <a:avLst>
              <a:gd name="adj" fmla="val 11111"/>
            </a:avLst>
          </a:prstGeom>
          <a:solidFill>
            <a:srgbClr val="1A2050"/>
          </a:solidFill>
          <a:ln w="12700">
            <a:solidFill>
              <a:srgbClr val="4361EE"/>
            </a:solidFill>
            <a:prstDash val="solid"/>
          </a:ln>
        </p:spPr>
      </p:sp>
      <p:sp>
        <p:nvSpPr>
          <p:cNvPr id="9" name="Text 7"/>
          <p:cNvSpPr/>
          <p:nvPr/>
        </p:nvSpPr>
        <p:spPr>
          <a:xfrm>
            <a:off x="384048" y="1847088"/>
            <a:ext cx="374904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Missing Value Handling</a:t>
            </a:r>
            <a:endParaRPr lang="en-US" sz="1000" dirty="0"/>
          </a:p>
        </p:txBody>
      </p:sp>
      <p:sp>
        <p:nvSpPr>
          <p:cNvPr id="10" name="Text 8"/>
          <p:cNvSpPr/>
          <p:nvPr/>
        </p:nvSpPr>
        <p:spPr>
          <a:xfrm>
            <a:off x="384048" y="2103120"/>
            <a:ext cx="3749040" cy="256032"/>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df.dropna() — removes incomplete rows</a:t>
            </a:r>
            <a:endParaRPr lang="en-US" sz="900" dirty="0"/>
          </a:p>
        </p:txBody>
      </p:sp>
      <p:sp>
        <p:nvSpPr>
          <p:cNvPr id="11" name="Shape 9"/>
          <p:cNvSpPr/>
          <p:nvPr/>
        </p:nvSpPr>
        <p:spPr>
          <a:xfrm>
            <a:off x="228600" y="2560320"/>
            <a:ext cx="4023360" cy="658368"/>
          </a:xfrm>
          <a:prstGeom prst="roundRect">
            <a:avLst>
              <a:gd name="adj" fmla="val 11111"/>
            </a:avLst>
          </a:prstGeom>
          <a:solidFill>
            <a:srgbClr val="1A2050"/>
          </a:solidFill>
          <a:ln w="12700">
            <a:solidFill>
              <a:srgbClr val="4361EE"/>
            </a:solidFill>
            <a:prstDash val="solid"/>
          </a:ln>
        </p:spPr>
      </p:sp>
      <p:sp>
        <p:nvSpPr>
          <p:cNvPr id="12" name="Text 10"/>
          <p:cNvSpPr/>
          <p:nvPr/>
        </p:nvSpPr>
        <p:spPr>
          <a:xfrm>
            <a:off x="384048" y="2615184"/>
            <a:ext cx="374904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IQR Outlier Removal</a:t>
            </a:r>
            <a:endParaRPr lang="en-US" sz="1000" dirty="0"/>
          </a:p>
        </p:txBody>
      </p:sp>
      <p:sp>
        <p:nvSpPr>
          <p:cNvPr id="13" name="Text 11"/>
          <p:cNvSpPr/>
          <p:nvPr/>
        </p:nvSpPr>
        <p:spPr>
          <a:xfrm>
            <a:off x="384048" y="2871216"/>
            <a:ext cx="3749040" cy="256032"/>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Q1-1.5×IQR to Q3+1.5×IQR on DEPARTURE_DELAY</a:t>
            </a:r>
            <a:endParaRPr lang="en-US" sz="900" dirty="0"/>
          </a:p>
        </p:txBody>
      </p:sp>
      <p:sp>
        <p:nvSpPr>
          <p:cNvPr id="14" name="Shape 12"/>
          <p:cNvSpPr/>
          <p:nvPr/>
        </p:nvSpPr>
        <p:spPr>
          <a:xfrm>
            <a:off x="228600" y="3328416"/>
            <a:ext cx="4023360" cy="658368"/>
          </a:xfrm>
          <a:prstGeom prst="roundRect">
            <a:avLst>
              <a:gd name="adj" fmla="val 11111"/>
            </a:avLst>
          </a:prstGeom>
          <a:solidFill>
            <a:srgbClr val="1A2050"/>
          </a:solidFill>
          <a:ln w="12700">
            <a:solidFill>
              <a:srgbClr val="4361EE"/>
            </a:solidFill>
            <a:prstDash val="solid"/>
          </a:ln>
        </p:spPr>
      </p:sp>
      <p:sp>
        <p:nvSpPr>
          <p:cNvPr id="15" name="Text 13"/>
          <p:cNvSpPr/>
          <p:nvPr/>
        </p:nvSpPr>
        <p:spPr>
          <a:xfrm>
            <a:off x="384048" y="3383280"/>
            <a:ext cx="374904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Feature Selection</a:t>
            </a:r>
            <a:endParaRPr lang="en-US" sz="1000" dirty="0"/>
          </a:p>
        </p:txBody>
      </p:sp>
      <p:sp>
        <p:nvSpPr>
          <p:cNvPr id="16" name="Text 14"/>
          <p:cNvSpPr/>
          <p:nvPr/>
        </p:nvSpPr>
        <p:spPr>
          <a:xfrm>
            <a:off x="384048" y="3639312"/>
            <a:ext cx="3749040" cy="256032"/>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5 numeric features + 1 target (ARRIVAL_DELAY)</a:t>
            </a:r>
            <a:endParaRPr lang="en-US" sz="900" dirty="0"/>
          </a:p>
        </p:txBody>
      </p:sp>
      <p:sp>
        <p:nvSpPr>
          <p:cNvPr id="17" name="Shape 15"/>
          <p:cNvSpPr/>
          <p:nvPr/>
        </p:nvSpPr>
        <p:spPr>
          <a:xfrm>
            <a:off x="228600" y="4096512"/>
            <a:ext cx="4023360" cy="658368"/>
          </a:xfrm>
          <a:prstGeom prst="roundRect">
            <a:avLst>
              <a:gd name="adj" fmla="val 11111"/>
            </a:avLst>
          </a:prstGeom>
          <a:solidFill>
            <a:srgbClr val="1A2050"/>
          </a:solidFill>
          <a:ln w="12700">
            <a:solidFill>
              <a:srgbClr val="4361EE"/>
            </a:solidFill>
            <a:prstDash val="solid"/>
          </a:ln>
        </p:spPr>
      </p:sp>
      <p:sp>
        <p:nvSpPr>
          <p:cNvPr id="18" name="Text 16"/>
          <p:cNvSpPr/>
          <p:nvPr/>
        </p:nvSpPr>
        <p:spPr>
          <a:xfrm>
            <a:off x="384048" y="4151376"/>
            <a:ext cx="374904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Train/Test Split</a:t>
            </a:r>
            <a:endParaRPr lang="en-US" sz="1000" dirty="0"/>
          </a:p>
        </p:txBody>
      </p:sp>
      <p:sp>
        <p:nvSpPr>
          <p:cNvPr id="19" name="Text 17"/>
          <p:cNvSpPr/>
          <p:nvPr/>
        </p:nvSpPr>
        <p:spPr>
          <a:xfrm>
            <a:off x="384048" y="4407408"/>
            <a:ext cx="3749040" cy="256032"/>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80% train / 20% test, random_state=42</a:t>
            </a:r>
            <a:endParaRPr lang="en-US" sz="900" dirty="0"/>
          </a:p>
        </p:txBody>
      </p:sp>
      <p:sp>
        <p:nvSpPr>
          <p:cNvPr id="20" name="Text 18"/>
          <p:cNvSpPr/>
          <p:nvPr/>
        </p:nvSpPr>
        <p:spPr>
          <a:xfrm>
            <a:off x="4572000" y="685800"/>
            <a:ext cx="4297680" cy="292608"/>
          </a:xfrm>
          <a:prstGeom prst="rect">
            <a:avLst/>
          </a:prstGeom>
          <a:noFill/>
          <a:ln/>
        </p:spPr>
        <p:txBody>
          <a:bodyPr wrap="square" rtlCol="0" anchor="ctr"/>
          <a:lstStyle/>
          <a:p>
            <a:pPr marL="0" indent="0">
              <a:buNone/>
            </a:pPr>
            <a:r>
              <a:rPr lang="en-US" sz="1100" b="1" dirty="0">
                <a:solidFill>
                  <a:srgbClr val="FFD166"/>
                </a:solidFill>
                <a:latin typeface="Arial" pitchFamily="34" charset="0"/>
                <a:ea typeface="Arial" pitchFamily="34" charset="-122"/>
                <a:cs typeface="Arial" pitchFamily="34" charset="-120"/>
              </a:rPr>
              <a:t>STATISTICAL ANALYSIS</a:t>
            </a:r>
            <a:endParaRPr lang="en-US" sz="1100" dirty="0"/>
          </a:p>
        </p:txBody>
      </p:sp>
      <p:sp>
        <p:nvSpPr>
          <p:cNvPr id="21" name="Shape 19"/>
          <p:cNvSpPr/>
          <p:nvPr/>
        </p:nvSpPr>
        <p:spPr>
          <a:xfrm>
            <a:off x="4480560" y="1024128"/>
            <a:ext cx="4434840" cy="1005840"/>
          </a:xfrm>
          <a:prstGeom prst="roundRect">
            <a:avLst>
              <a:gd name="adj" fmla="val 9091"/>
            </a:avLst>
          </a:prstGeom>
          <a:solidFill>
            <a:srgbClr val="1A2050"/>
          </a:solidFill>
          <a:ln w="12700">
            <a:solidFill>
              <a:srgbClr val="FFD166"/>
            </a:solidFill>
            <a:prstDash val="solid"/>
          </a:ln>
        </p:spPr>
      </p:sp>
      <p:sp>
        <p:nvSpPr>
          <p:cNvPr id="22" name="Text 20"/>
          <p:cNvSpPr/>
          <p:nvPr/>
        </p:nvSpPr>
        <p:spPr>
          <a:xfrm>
            <a:off x="4636008" y="1078992"/>
            <a:ext cx="4114800" cy="274320"/>
          </a:xfrm>
          <a:prstGeom prst="rect">
            <a:avLst/>
          </a:prstGeom>
          <a:noFill/>
          <a:ln/>
        </p:spPr>
        <p:txBody>
          <a:bodyPr wrap="square" rtlCol="0" anchor="ctr"/>
          <a:lstStyle/>
          <a:p>
            <a:pPr marL="0" indent="0">
              <a:buNone/>
            </a:pPr>
            <a:r>
              <a:rPr lang="en-US" sz="1000" b="1" dirty="0">
                <a:solidFill>
                  <a:srgbClr val="FFD166"/>
                </a:solidFill>
                <a:latin typeface="Arial" pitchFamily="34" charset="0"/>
                <a:ea typeface="Arial" pitchFamily="34" charset="-122"/>
                <a:cs typeface="Arial" pitchFamily="34" charset="-120"/>
              </a:rPr>
              <a:t>Descriptive Statistics</a:t>
            </a:r>
            <a:endParaRPr lang="en-US" sz="1000" dirty="0"/>
          </a:p>
        </p:txBody>
      </p:sp>
      <p:sp>
        <p:nvSpPr>
          <p:cNvPr id="23" name="Text 21"/>
          <p:cNvSpPr/>
          <p:nvPr/>
        </p:nvSpPr>
        <p:spPr>
          <a:xfrm>
            <a:off x="4636008" y="1371600"/>
            <a:ext cx="4114800" cy="5943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df.describe() — covers count, mean, std, min/max</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DEPARTURE_DELAY: filtered via IQR to remove extreme outliers</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ARRIVAL_DELAY: target range post-cleaning</a:t>
            </a:r>
            <a:endParaRPr lang="en-US" sz="900" dirty="0"/>
          </a:p>
        </p:txBody>
      </p:sp>
      <p:sp>
        <p:nvSpPr>
          <p:cNvPr id="24" name="Shape 22"/>
          <p:cNvSpPr/>
          <p:nvPr/>
        </p:nvSpPr>
        <p:spPr>
          <a:xfrm>
            <a:off x="4480560" y="2121408"/>
            <a:ext cx="4434840" cy="914400"/>
          </a:xfrm>
          <a:prstGeom prst="roundRect">
            <a:avLst>
              <a:gd name="adj" fmla="val 10000"/>
            </a:avLst>
          </a:prstGeom>
          <a:solidFill>
            <a:srgbClr val="1A2050"/>
          </a:solidFill>
          <a:ln w="12700">
            <a:solidFill>
              <a:srgbClr val="00D4FF"/>
            </a:solidFill>
            <a:prstDash val="solid"/>
          </a:ln>
        </p:spPr>
      </p:sp>
      <p:sp>
        <p:nvSpPr>
          <p:cNvPr id="25" name="Text 23"/>
          <p:cNvSpPr/>
          <p:nvPr/>
        </p:nvSpPr>
        <p:spPr>
          <a:xfrm>
            <a:off x="4636008" y="2176272"/>
            <a:ext cx="4114800" cy="274320"/>
          </a:xfrm>
          <a:prstGeom prst="rect">
            <a:avLst/>
          </a:prstGeom>
          <a:noFill/>
          <a:ln/>
        </p:spPr>
        <p:txBody>
          <a:bodyPr wrap="square" rtlCol="0" anchor="ctr"/>
          <a:lstStyle/>
          <a:p>
            <a:pPr marL="0" indent="0">
              <a:buNone/>
            </a:pPr>
            <a:r>
              <a:rPr lang="en-US" sz="1000" b="1" dirty="0">
                <a:solidFill>
                  <a:srgbClr val="00D4FF"/>
                </a:solidFill>
                <a:latin typeface="Arial" pitchFamily="34" charset="0"/>
                <a:ea typeface="Arial" pitchFamily="34" charset="-122"/>
                <a:cs typeface="Arial" pitchFamily="34" charset="-120"/>
              </a:rPr>
              <a:t>Departure Delay Distribution (Histogram)</a:t>
            </a:r>
            <a:endParaRPr lang="en-US" sz="1000" dirty="0"/>
          </a:p>
        </p:txBody>
      </p:sp>
      <p:sp>
        <p:nvSpPr>
          <p:cNvPr id="26" name="Text 24"/>
          <p:cNvSpPr/>
          <p:nvPr/>
        </p:nvSpPr>
        <p:spPr>
          <a:xfrm>
            <a:off x="4636008" y="2487168"/>
            <a:ext cx="4114800" cy="5029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30 bins | After IQR filtering | plt.hist(df['DEPARTURE_DELAY'], bins=30)</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Distribution is right-skewed; majority of flights depart on time.</a:t>
            </a:r>
            <a:endParaRPr lang="en-US" sz="900" dirty="0"/>
          </a:p>
        </p:txBody>
      </p:sp>
      <p:sp>
        <p:nvSpPr>
          <p:cNvPr id="27" name="Shape 25"/>
          <p:cNvSpPr/>
          <p:nvPr/>
        </p:nvSpPr>
        <p:spPr>
          <a:xfrm>
            <a:off x="4480560" y="3127248"/>
            <a:ext cx="4434840" cy="1737360"/>
          </a:xfrm>
          <a:prstGeom prst="roundRect">
            <a:avLst>
              <a:gd name="adj" fmla="val 5263"/>
            </a:avLst>
          </a:prstGeom>
          <a:solidFill>
            <a:srgbClr val="7B2FBE">
              <a:alpha val="25000"/>
            </a:srgbClr>
          </a:solidFill>
          <a:ln w="12700">
            <a:solidFill>
              <a:srgbClr val="7B2FBE"/>
            </a:solidFill>
            <a:prstDash val="solid"/>
          </a:ln>
        </p:spPr>
      </p:sp>
      <p:sp>
        <p:nvSpPr>
          <p:cNvPr id="28" name="Text 26"/>
          <p:cNvSpPr/>
          <p:nvPr/>
        </p:nvSpPr>
        <p:spPr>
          <a:xfrm>
            <a:off x="4636008" y="3200400"/>
            <a:ext cx="4114800" cy="274320"/>
          </a:xfrm>
          <a:prstGeom prst="rect">
            <a:avLst/>
          </a:prstGeom>
          <a:noFill/>
          <a:ln/>
        </p:spPr>
        <p:txBody>
          <a:bodyPr wrap="square" rtlCol="0" anchor="ctr"/>
          <a:lstStyle/>
          <a:p>
            <a:pPr marL="0" indent="0">
              <a:buNone/>
            </a:pPr>
            <a:r>
              <a:rPr lang="en-US" sz="1000" b="1" dirty="0">
                <a:solidFill>
                  <a:srgbClr val="FFD166"/>
                </a:solidFill>
                <a:latin typeface="Arial" pitchFamily="34" charset="0"/>
                <a:ea typeface="Arial" pitchFamily="34" charset="-122"/>
                <a:cs typeface="Arial" pitchFamily="34" charset="-120"/>
              </a:rPr>
              <a:t>Key Statistical Insight</a:t>
            </a:r>
            <a:endParaRPr lang="en-US" sz="1000" dirty="0"/>
          </a:p>
        </p:txBody>
      </p:sp>
      <p:sp>
        <p:nvSpPr>
          <p:cNvPr id="29" name="Text 27"/>
          <p:cNvSpPr/>
          <p:nvPr/>
        </p:nvSpPr>
        <p:spPr>
          <a:xfrm>
            <a:off x="4636008" y="3520440"/>
            <a:ext cx="4114800" cy="12344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DEPARTURE_DELAY shows the highest correlation with ARRIVAL_DELAY — a flight that leaves late almost always arrives late. This one feature alone carries the majority of predictive power in the Linear Regression model, making it the most important variable in the feature set.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8229600" cy="384048"/>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DATA VISUALIZATION</a:t>
            </a:r>
            <a:endParaRPr lang="en-US" sz="1800" dirty="0"/>
          </a:p>
        </p:txBody>
      </p:sp>
      <p:graphicFrame>
        <p:nvGraphicFramePr>
          <p:cNvPr id="4" name="Chart 0"/>
          <p:cNvGraphicFramePr/>
          <p:nvPr/>
        </p:nvGraphicFramePr>
        <p:xfrm>
          <a:off x="228600" y="685800"/>
          <a:ext cx="429768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754880" y="685800"/>
          <a:ext cx="4114800" cy="24688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228600" y="3291840"/>
          <a:ext cx="2926080" cy="1645920"/>
        </p:xfrm>
        <a:graphic>
          <a:graphicData uri="http://schemas.openxmlformats.org/drawingml/2006/chart">
            <c:chart xmlns:c="http://schemas.openxmlformats.org/drawingml/2006/chart" xmlns:r="http://schemas.openxmlformats.org/officeDocument/2006/relationships" r:id="rId5"/>
          </a:graphicData>
        </a:graphic>
      </p:graphicFrame>
      <p:sp>
        <p:nvSpPr>
          <p:cNvPr id="7" name="Shape 2"/>
          <p:cNvSpPr/>
          <p:nvPr/>
        </p:nvSpPr>
        <p:spPr>
          <a:xfrm>
            <a:off x="3337560" y="3291840"/>
            <a:ext cx="5486400" cy="1645920"/>
          </a:xfrm>
          <a:prstGeom prst="roundRect">
            <a:avLst>
              <a:gd name="adj" fmla="val 5556"/>
            </a:avLst>
          </a:prstGeom>
          <a:solidFill>
            <a:srgbClr val="1A2050"/>
          </a:solidFill>
          <a:ln w="12700">
            <a:solidFill>
              <a:srgbClr val="4361EE"/>
            </a:solidFill>
            <a:prstDash val="solid"/>
          </a:ln>
        </p:spPr>
      </p:sp>
      <p:sp>
        <p:nvSpPr>
          <p:cNvPr id="8" name="Text 3"/>
          <p:cNvSpPr/>
          <p:nvPr/>
        </p:nvSpPr>
        <p:spPr>
          <a:xfrm>
            <a:off x="3493008" y="3355848"/>
            <a:ext cx="5120640" cy="274320"/>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Key Observations</a:t>
            </a:r>
            <a:endParaRPr lang="en-US" sz="1100" dirty="0"/>
          </a:p>
        </p:txBody>
      </p:sp>
      <p:sp>
        <p:nvSpPr>
          <p:cNvPr id="9" name="Text 4"/>
          <p:cNvSpPr/>
          <p:nvPr/>
        </p:nvSpPr>
        <p:spPr>
          <a:xfrm>
            <a:off x="3493008" y="3675888"/>
            <a:ext cx="5120640" cy="118872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DEPARTURE_DELAY correlates 0.93 with ARRIVAL_DELAY</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Delay distribution is right-skewed; most flights on time</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Late aircraft &amp; carrier issues account for ~60% of delays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Distance and air time have weaker but measurable influence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oundRect">
            <a:avLst/>
          </a:prstGeom>
          <a:solidFill>
            <a:srgbClr val="111538"/>
          </a:solidFill>
          <a:ln w="12700">
            <a:solidFill>
              <a:srgbClr val="000000"/>
            </a:solidFill>
            <a:prstDash val="solid"/>
          </a:ln>
        </p:spPr>
      </p:sp>
      <p:sp>
        <p:nvSpPr>
          <p:cNvPr id="3" name="Text 1"/>
          <p:cNvSpPr/>
          <p:nvPr/>
        </p:nvSpPr>
        <p:spPr>
          <a:xfrm>
            <a:off x="274320" y="91440"/>
            <a:ext cx="5486400" cy="384048"/>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MODEL PERFORMANCE</a:t>
            </a:r>
            <a:endParaRPr lang="en-US" sz="1800" dirty="0"/>
          </a:p>
        </p:txBody>
      </p:sp>
      <p:sp>
        <p:nvSpPr>
          <p:cNvPr id="4" name="Shape 2"/>
          <p:cNvSpPr/>
          <p:nvPr/>
        </p:nvSpPr>
        <p:spPr>
          <a:xfrm>
            <a:off x="228600" y="685800"/>
            <a:ext cx="2560320" cy="2743200"/>
          </a:xfrm>
          <a:prstGeom prst="roundRect">
            <a:avLst>
              <a:gd name="adj" fmla="val 4286"/>
            </a:avLst>
          </a:prstGeom>
          <a:solidFill>
            <a:srgbClr val="1A2050"/>
          </a:solidFill>
          <a:ln w="12700">
            <a:solidFill>
              <a:srgbClr val="00D4FF"/>
            </a:solidFill>
            <a:prstDash val="solid"/>
          </a:ln>
        </p:spPr>
      </p:sp>
      <p:sp>
        <p:nvSpPr>
          <p:cNvPr id="5" name="Text 3"/>
          <p:cNvSpPr/>
          <p:nvPr/>
        </p:nvSpPr>
        <p:spPr>
          <a:xfrm>
            <a:off x="274320" y="777240"/>
            <a:ext cx="2468880" cy="548640"/>
          </a:xfrm>
          <a:prstGeom prst="rect">
            <a:avLst/>
          </a:prstGeom>
          <a:noFill/>
          <a:ln/>
        </p:spPr>
        <p:txBody>
          <a:bodyPr wrap="square" rtlCol="0" anchor="ctr"/>
          <a:lstStyle/>
          <a:p>
            <a:pPr marL="0" indent="0" algn="ctr">
              <a:buNone/>
            </a:pPr>
            <a:r>
              <a:rPr lang="en-US" sz="1100" b="1" dirty="0">
                <a:solidFill>
                  <a:srgbClr val="8892B0"/>
                </a:solidFill>
                <a:latin typeface="Arial" pitchFamily="34" charset="0"/>
                <a:ea typeface="Arial" pitchFamily="34" charset="-122"/>
                <a:cs typeface="Arial" pitchFamily="34" charset="-120"/>
              </a:rPr>
              <a:t>MODEL</a:t>
            </a:r>
            <a:endParaRPr lang="en-US" sz="1100" dirty="0"/>
          </a:p>
          <a:p>
            <a:pPr marL="0" indent="0" algn="ctr">
              <a:buNone/>
            </a:pPr>
            <a:r>
              <a:rPr lang="en-US" sz="1100" b="1" dirty="0">
                <a:solidFill>
                  <a:srgbClr val="8892B0"/>
                </a:solidFill>
                <a:latin typeface="Arial" pitchFamily="34" charset="0"/>
                <a:ea typeface="Arial" pitchFamily="34" charset="-122"/>
                <a:cs typeface="Arial" pitchFamily="34" charset="-120"/>
              </a:rPr>
              <a:t>ACCURACY</a:t>
            </a:r>
            <a:endParaRPr lang="en-US" sz="1100" dirty="0"/>
          </a:p>
        </p:txBody>
      </p:sp>
      <p:sp>
        <p:nvSpPr>
          <p:cNvPr id="6" name="Text 4"/>
          <p:cNvSpPr/>
          <p:nvPr/>
        </p:nvSpPr>
        <p:spPr>
          <a:xfrm>
            <a:off x="274320" y="1325880"/>
            <a:ext cx="2468880" cy="822960"/>
          </a:xfrm>
          <a:prstGeom prst="rect">
            <a:avLst/>
          </a:prstGeom>
          <a:noFill/>
          <a:ln/>
        </p:spPr>
        <p:txBody>
          <a:bodyPr wrap="square" rtlCol="0" anchor="ctr"/>
          <a:lstStyle/>
          <a:p>
            <a:pPr marL="0" indent="0" algn="ctr">
              <a:buNone/>
            </a:pPr>
            <a:r>
              <a:rPr lang="en-US" sz="3600" b="1" dirty="0">
                <a:solidFill>
                  <a:srgbClr val="00D4FF"/>
                </a:solidFill>
                <a:latin typeface="Arial" pitchFamily="34" charset="0"/>
                <a:ea typeface="Arial" pitchFamily="34" charset="-122"/>
                <a:cs typeface="Arial" pitchFamily="34" charset="-120"/>
              </a:rPr>
              <a:t>~0.92</a:t>
            </a:r>
            <a:endParaRPr lang="en-US" sz="3600" dirty="0"/>
          </a:p>
        </p:txBody>
      </p:sp>
      <p:sp>
        <p:nvSpPr>
          <p:cNvPr id="7" name="Text 5"/>
          <p:cNvSpPr/>
          <p:nvPr/>
        </p:nvSpPr>
        <p:spPr>
          <a:xfrm>
            <a:off x="274320" y="2103120"/>
            <a:ext cx="2468880" cy="274320"/>
          </a:xfrm>
          <a:prstGeom prst="rect">
            <a:avLst/>
          </a:prstGeom>
          <a:noFill/>
          <a:ln/>
        </p:spPr>
        <p:txBody>
          <a:bodyPr wrap="square" rtlCol="0" anchor="ctr"/>
          <a:lstStyle/>
          <a:p>
            <a:pPr marL="0" indent="0" algn="ctr">
              <a:buNone/>
            </a:pPr>
            <a:r>
              <a:rPr lang="en-US" sz="1100" dirty="0">
                <a:solidFill>
                  <a:srgbClr val="8892B0"/>
                </a:solidFill>
                <a:latin typeface="Calibri" pitchFamily="34" charset="0"/>
                <a:ea typeface="Calibri" pitchFamily="34" charset="-122"/>
                <a:cs typeface="Calibri" pitchFamily="34" charset="-120"/>
              </a:rPr>
              <a:t>R² Score</a:t>
            </a:r>
            <a:endParaRPr lang="en-US" sz="1100" dirty="0"/>
          </a:p>
        </p:txBody>
      </p:sp>
      <p:sp>
        <p:nvSpPr>
          <p:cNvPr id="8" name="Text 6"/>
          <p:cNvSpPr/>
          <p:nvPr/>
        </p:nvSpPr>
        <p:spPr>
          <a:xfrm>
            <a:off x="274320" y="2423160"/>
            <a:ext cx="24688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Linear Regression</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(Best Model)</a:t>
            </a:r>
            <a:endParaRPr lang="en-US" sz="1000" dirty="0"/>
          </a:p>
        </p:txBody>
      </p:sp>
      <p:sp>
        <p:nvSpPr>
          <p:cNvPr id="9" name="Shape 7"/>
          <p:cNvSpPr/>
          <p:nvPr/>
        </p:nvSpPr>
        <p:spPr>
          <a:xfrm>
            <a:off x="2971800" y="685800"/>
            <a:ext cx="2926080" cy="2743200"/>
          </a:xfrm>
          <a:prstGeom prst="roundRect">
            <a:avLst>
              <a:gd name="adj" fmla="val 3333"/>
            </a:avLst>
          </a:prstGeom>
          <a:solidFill>
            <a:srgbClr val="1A2050"/>
          </a:solidFill>
          <a:ln w="12700">
            <a:solidFill>
              <a:srgbClr val="7B2FBE"/>
            </a:solidFill>
            <a:prstDash val="solid"/>
          </a:ln>
        </p:spPr>
      </p:sp>
      <p:sp>
        <p:nvSpPr>
          <p:cNvPr id="10" name="Text 8"/>
          <p:cNvSpPr/>
          <p:nvPr/>
        </p:nvSpPr>
        <p:spPr>
          <a:xfrm>
            <a:off x="3108960" y="758952"/>
            <a:ext cx="2651760" cy="320040"/>
          </a:xfrm>
          <a:prstGeom prst="rect">
            <a:avLst/>
          </a:prstGeom>
          <a:noFill/>
          <a:ln/>
        </p:spPr>
        <p:txBody>
          <a:bodyPr wrap="square" rtlCol="0" anchor="ctr"/>
          <a:lstStyle/>
          <a:p>
            <a:pPr marL="0" indent="0" algn="ctr">
              <a:buNone/>
            </a:pPr>
            <a:r>
              <a:rPr lang="en-US" sz="1000" b="1" dirty="0">
                <a:solidFill>
                  <a:srgbClr val="FFD166"/>
                </a:solidFill>
                <a:latin typeface="Arial" pitchFamily="34" charset="0"/>
                <a:ea typeface="Arial" pitchFamily="34" charset="-122"/>
                <a:cs typeface="Arial" pitchFamily="34" charset="-120"/>
              </a:rPr>
              <a:t>PERFORMANCE METRICS</a:t>
            </a:r>
            <a:endParaRPr lang="en-US" sz="1000" dirty="0"/>
          </a:p>
        </p:txBody>
      </p:sp>
      <p:sp>
        <p:nvSpPr>
          <p:cNvPr id="11" name="Text 9"/>
          <p:cNvSpPr/>
          <p:nvPr/>
        </p:nvSpPr>
        <p:spPr>
          <a:xfrm>
            <a:off x="3063240" y="1207008"/>
            <a:ext cx="1371600" cy="256032"/>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MAE</a:t>
            </a:r>
            <a:endParaRPr lang="en-US" sz="1000" dirty="0"/>
          </a:p>
        </p:txBody>
      </p:sp>
      <p:sp>
        <p:nvSpPr>
          <p:cNvPr id="12" name="Text 10"/>
          <p:cNvSpPr/>
          <p:nvPr/>
        </p:nvSpPr>
        <p:spPr>
          <a:xfrm>
            <a:off x="4434840" y="1207008"/>
            <a:ext cx="1371600" cy="256032"/>
          </a:xfrm>
          <a:prstGeom prst="rect">
            <a:avLst/>
          </a:prstGeom>
          <a:noFill/>
          <a:ln/>
        </p:spPr>
        <p:txBody>
          <a:bodyPr wrap="square" rtlCol="0" anchor="ctr"/>
          <a:lstStyle/>
          <a:p>
            <a:pPr marL="0" indent="0" algn="r">
              <a:buNone/>
            </a:pPr>
            <a:r>
              <a:rPr lang="en-US" sz="1100" b="1" dirty="0">
                <a:solidFill>
                  <a:srgbClr val="06D6A0"/>
                </a:solidFill>
                <a:latin typeface="Arial" pitchFamily="34" charset="0"/>
                <a:ea typeface="Arial" pitchFamily="34" charset="-122"/>
                <a:cs typeface="Arial" pitchFamily="34" charset="-120"/>
              </a:rPr>
              <a:t>Low</a:t>
            </a:r>
            <a:endParaRPr lang="en-US" sz="1100" dirty="0"/>
          </a:p>
        </p:txBody>
      </p:sp>
      <p:sp>
        <p:nvSpPr>
          <p:cNvPr id="13" name="Shape 11"/>
          <p:cNvSpPr/>
          <p:nvPr/>
        </p:nvSpPr>
        <p:spPr>
          <a:xfrm>
            <a:off x="3108960" y="1490472"/>
            <a:ext cx="2606040" cy="0"/>
          </a:xfrm>
          <a:prstGeom prst="line">
            <a:avLst/>
          </a:prstGeom>
          <a:noFill/>
          <a:ln w="6350">
            <a:solidFill>
              <a:srgbClr val="6272A4"/>
            </a:solidFill>
            <a:prstDash val="solid"/>
          </a:ln>
        </p:spPr>
      </p:sp>
      <p:sp>
        <p:nvSpPr>
          <p:cNvPr id="14" name="Text 12"/>
          <p:cNvSpPr/>
          <p:nvPr/>
        </p:nvSpPr>
        <p:spPr>
          <a:xfrm>
            <a:off x="3063240" y="1828800"/>
            <a:ext cx="1371600" cy="256032"/>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MSE</a:t>
            </a:r>
            <a:endParaRPr lang="en-US" sz="1000" dirty="0"/>
          </a:p>
        </p:txBody>
      </p:sp>
      <p:sp>
        <p:nvSpPr>
          <p:cNvPr id="15" name="Text 13"/>
          <p:cNvSpPr/>
          <p:nvPr/>
        </p:nvSpPr>
        <p:spPr>
          <a:xfrm>
            <a:off x="4434840" y="1828800"/>
            <a:ext cx="1371600" cy="256032"/>
          </a:xfrm>
          <a:prstGeom prst="rect">
            <a:avLst/>
          </a:prstGeom>
          <a:noFill/>
          <a:ln/>
        </p:spPr>
        <p:txBody>
          <a:bodyPr wrap="square" rtlCol="0" anchor="ctr"/>
          <a:lstStyle/>
          <a:p>
            <a:pPr marL="0" indent="0" algn="r">
              <a:buNone/>
            </a:pPr>
            <a:r>
              <a:rPr lang="en-US" sz="1100" b="1" dirty="0">
                <a:solidFill>
                  <a:srgbClr val="FFD166"/>
                </a:solidFill>
                <a:latin typeface="Arial" pitchFamily="34" charset="0"/>
                <a:ea typeface="Arial" pitchFamily="34" charset="-122"/>
                <a:cs typeface="Arial" pitchFamily="34" charset="-120"/>
              </a:rPr>
              <a:t>Moderate</a:t>
            </a:r>
            <a:endParaRPr lang="en-US" sz="1100" dirty="0"/>
          </a:p>
        </p:txBody>
      </p:sp>
      <p:sp>
        <p:nvSpPr>
          <p:cNvPr id="16" name="Shape 14"/>
          <p:cNvSpPr/>
          <p:nvPr/>
        </p:nvSpPr>
        <p:spPr>
          <a:xfrm>
            <a:off x="3108960" y="2112264"/>
            <a:ext cx="2606040" cy="0"/>
          </a:xfrm>
          <a:prstGeom prst="line">
            <a:avLst/>
          </a:prstGeom>
          <a:noFill/>
          <a:ln w="6350">
            <a:solidFill>
              <a:srgbClr val="6272A4"/>
            </a:solidFill>
            <a:prstDash val="solid"/>
          </a:ln>
        </p:spPr>
      </p:sp>
      <p:sp>
        <p:nvSpPr>
          <p:cNvPr id="17" name="Text 15"/>
          <p:cNvSpPr/>
          <p:nvPr/>
        </p:nvSpPr>
        <p:spPr>
          <a:xfrm>
            <a:off x="3063240" y="2450592"/>
            <a:ext cx="1371600" cy="256032"/>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R² Score</a:t>
            </a:r>
            <a:endParaRPr lang="en-US" sz="1000" dirty="0"/>
          </a:p>
        </p:txBody>
      </p:sp>
      <p:sp>
        <p:nvSpPr>
          <p:cNvPr id="18" name="Text 16"/>
          <p:cNvSpPr/>
          <p:nvPr/>
        </p:nvSpPr>
        <p:spPr>
          <a:xfrm>
            <a:off x="4434840" y="2450592"/>
            <a:ext cx="1371600" cy="256032"/>
          </a:xfrm>
          <a:prstGeom prst="rect">
            <a:avLst/>
          </a:prstGeom>
          <a:noFill/>
          <a:ln/>
        </p:spPr>
        <p:txBody>
          <a:bodyPr wrap="square" rtlCol="0" anchor="ctr"/>
          <a:lstStyle/>
          <a:p>
            <a:pPr marL="0" indent="0" algn="r">
              <a:buNone/>
            </a:pPr>
            <a:r>
              <a:rPr lang="en-US" sz="1100" b="1" dirty="0">
                <a:solidFill>
                  <a:srgbClr val="00D4FF"/>
                </a:solidFill>
                <a:latin typeface="Arial" pitchFamily="34" charset="0"/>
                <a:ea typeface="Arial" pitchFamily="34" charset="-122"/>
                <a:cs typeface="Arial" pitchFamily="34" charset="-120"/>
              </a:rPr>
              <a:t>~0.92</a:t>
            </a:r>
            <a:endParaRPr lang="en-US" sz="1100" dirty="0"/>
          </a:p>
        </p:txBody>
      </p:sp>
      <p:sp>
        <p:nvSpPr>
          <p:cNvPr id="19" name="Text 17"/>
          <p:cNvSpPr/>
          <p:nvPr/>
        </p:nvSpPr>
        <p:spPr>
          <a:xfrm>
            <a:off x="3108960" y="2194560"/>
            <a:ext cx="2697480" cy="11887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Features:</a:t>
            </a:r>
            <a:endParaRPr lang="en-US" sz="900" dirty="0"/>
          </a:p>
          <a:p>
            <a:pPr marL="0" indent="0">
              <a:buNone/>
            </a:pPr>
            <a:r>
              <a:rPr lang="en-US" sz="900" dirty="0">
                <a:solidFill>
                  <a:srgbClr val="8892B0"/>
                </a:solidFill>
                <a:latin typeface="Calibri" pitchFamily="34" charset="0"/>
                <a:ea typeface="Calibri" pitchFamily="34" charset="-122"/>
                <a:cs typeface="Calibri" pitchFamily="34" charset="-120"/>
              </a:rPr>
              <a:t>DEP_DELAY, TAXI_OUT</a:t>
            </a:r>
            <a:endParaRPr lang="en-US" sz="900" dirty="0"/>
          </a:p>
          <a:p>
            <a:pPr marL="0" indent="0">
              <a:buNone/>
            </a:pPr>
            <a:r>
              <a:rPr lang="en-US" sz="900" dirty="0">
                <a:solidFill>
                  <a:srgbClr val="8892B0"/>
                </a:solidFill>
                <a:latin typeface="Calibri" pitchFamily="34" charset="0"/>
                <a:ea typeface="Calibri" pitchFamily="34" charset="-122"/>
                <a:cs typeface="Calibri" pitchFamily="34" charset="-120"/>
              </a:rPr>
              <a:t>TAXI_IN, AIR_TIME</a:t>
            </a:r>
            <a:endParaRPr lang="en-US" sz="900" dirty="0"/>
          </a:p>
          <a:p>
            <a:pPr marL="0" indent="0">
              <a:buNone/>
            </a:pPr>
            <a:r>
              <a:rPr lang="en-US" sz="900" dirty="0">
                <a:solidFill>
                  <a:srgbClr val="8892B0"/>
                </a:solidFill>
                <a:latin typeface="Calibri" pitchFamily="34" charset="0"/>
                <a:ea typeface="Calibri" pitchFamily="34" charset="-122"/>
                <a:cs typeface="Calibri" pitchFamily="34" charset="-120"/>
              </a:rPr>
              <a:t>DISTANCE</a:t>
            </a:r>
            <a:endParaRPr lang="en-US" sz="900" dirty="0"/>
          </a:p>
        </p:txBody>
      </p:sp>
      <p:graphicFrame>
        <p:nvGraphicFramePr>
          <p:cNvPr id="20" name="Chart 0"/>
          <p:cNvGraphicFramePr/>
          <p:nvPr/>
        </p:nvGraphicFramePr>
        <p:xfrm>
          <a:off x="5989320" y="685800"/>
          <a:ext cx="2926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228600" y="3547872"/>
            <a:ext cx="8686800" cy="1371600"/>
          </a:xfrm>
          <a:prstGeom prst="roundRect">
            <a:avLst>
              <a:gd name="adj" fmla="val 6667"/>
            </a:avLst>
          </a:prstGeom>
          <a:solidFill>
            <a:srgbClr val="1A2050"/>
          </a:solidFill>
          <a:ln w="12700">
            <a:solidFill>
              <a:srgbClr val="4361EE"/>
            </a:solidFill>
            <a:prstDash val="solid"/>
          </a:ln>
        </p:spPr>
      </p:sp>
      <p:sp>
        <p:nvSpPr>
          <p:cNvPr id="22" name="Text 19"/>
          <p:cNvSpPr/>
          <p:nvPr/>
        </p:nvSpPr>
        <p:spPr>
          <a:xfrm>
            <a:off x="411480" y="3611880"/>
            <a:ext cx="3657600" cy="292608"/>
          </a:xfrm>
          <a:prstGeom prst="rect">
            <a:avLst/>
          </a:prstGeom>
          <a:noFill/>
          <a:ln/>
        </p:spPr>
        <p:txBody>
          <a:bodyPr wrap="square" rtlCol="0" anchor="ctr"/>
          <a:lstStyle/>
          <a:p>
            <a:pPr marL="0" indent="0">
              <a:buNone/>
            </a:pPr>
            <a:r>
              <a:rPr lang="en-US" sz="1100" b="1" dirty="0">
                <a:solidFill>
                  <a:srgbClr val="FFD166"/>
                </a:solidFill>
                <a:latin typeface="Arial" pitchFamily="34" charset="0"/>
                <a:ea typeface="Arial" pitchFamily="34" charset="-122"/>
                <a:cs typeface="Arial" pitchFamily="34" charset="-120"/>
              </a:rPr>
              <a:t>KEY TAKEAWAYS</a:t>
            </a:r>
            <a:endParaRPr lang="en-US" sz="1100" dirty="0"/>
          </a:p>
        </p:txBody>
      </p:sp>
      <p:sp>
        <p:nvSpPr>
          <p:cNvPr id="23" name="Text 20"/>
          <p:cNvSpPr/>
          <p:nvPr/>
        </p:nvSpPr>
        <p:spPr>
          <a:xfrm>
            <a:off x="411480" y="3931920"/>
            <a:ext cx="8412480" cy="914400"/>
          </a:xfrm>
          <a:prstGeom prst="rect">
            <a:avLst/>
          </a:prstGeom>
          <a:noFill/>
          <a:ln/>
        </p:spPr>
        <p:txBody>
          <a:bodyPr wrap="square" rtlCol="0" anchor="ctr"/>
          <a:lstStyle/>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Linear Regression achieves high R² due to strong DEPARTURE_DELAY → ARRIVAL_DELAY correlation</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DEPARTURE_DELAY is the dominant predictor — removing it would drastically reduce accuracy</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TAXI_OUT has the next strongest influence on arrival delays</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Distance and Air Time contribute smaller but measurable effects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A"/>
        </a:solidFill>
        <a:effectLst/>
      </p:bgPr>
    </p:bg>
    <p:spTree>
      <p:nvGrpSpPr>
        <p:cNvPr id="1" name=""/>
        <p:cNvGrpSpPr/>
        <p:nvPr/>
      </p:nvGrpSpPr>
      <p:grpSpPr>
        <a:xfrm>
          <a:off x="0" y="0"/>
          <a:ext cx="0" cy="0"/>
          <a:chOff x="0" y="0"/>
          <a:chExt cx="0" cy="0"/>
        </a:xfrm>
      </p:grpSpPr>
      <p:sp>
        <p:nvSpPr>
          <p:cNvPr id="2" name="Text 0"/>
          <p:cNvSpPr/>
          <p:nvPr/>
        </p:nvSpPr>
        <p:spPr>
          <a:xfrm>
            <a:off x="365760" y="548640"/>
            <a:ext cx="5029200" cy="1371600"/>
          </a:xfrm>
          <a:prstGeom prst="rect">
            <a:avLst/>
          </a:prstGeom>
          <a:noFill/>
          <a:ln/>
        </p:spPr>
        <p:txBody>
          <a:bodyPr wrap="square" rtlCol="0" anchor="ctr"/>
          <a:lstStyle/>
          <a:p>
            <a:pPr marL="0" indent="0">
              <a:buNone/>
            </a:pPr>
            <a:r>
              <a:rPr lang="en-US" sz="7200" b="1" dirty="0">
                <a:solidFill>
                  <a:srgbClr val="00D4FF"/>
                </a:solidFill>
                <a:latin typeface="Arial" pitchFamily="34" charset="0"/>
                <a:ea typeface="Arial" pitchFamily="34" charset="-122"/>
                <a:cs typeface="Arial" pitchFamily="34" charset="-120"/>
              </a:rPr>
              <a:t>THANK</a:t>
            </a:r>
            <a:endParaRPr lang="en-US" sz="7200" dirty="0"/>
          </a:p>
        </p:txBody>
      </p:sp>
      <p:sp>
        <p:nvSpPr>
          <p:cNvPr id="3" name="Text 1"/>
          <p:cNvSpPr/>
          <p:nvPr/>
        </p:nvSpPr>
        <p:spPr>
          <a:xfrm>
            <a:off x="365760" y="1737360"/>
            <a:ext cx="5029200" cy="1371600"/>
          </a:xfrm>
          <a:prstGeom prst="rect">
            <a:avLst/>
          </a:prstGeom>
          <a:noFill/>
          <a:ln/>
        </p:spPr>
        <p:txBody>
          <a:bodyPr wrap="square" rtlCol="0" anchor="ctr"/>
          <a:lstStyle/>
          <a:p>
            <a:pPr marL="0" indent="0">
              <a:buNone/>
            </a:pPr>
            <a:r>
              <a:rPr lang="en-US" sz="7200" b="1" dirty="0">
                <a:solidFill>
                  <a:srgbClr val="FFD166"/>
                </a:solidFill>
                <a:latin typeface="Arial" pitchFamily="34" charset="0"/>
                <a:ea typeface="Arial" pitchFamily="34" charset="-122"/>
                <a:cs typeface="Arial" pitchFamily="34" charset="-120"/>
              </a:rPr>
              <a:t>YOU!</a:t>
            </a:r>
            <a:endParaRPr lang="en-US" sz="7200" dirty="0"/>
          </a:p>
        </p:txBody>
      </p:sp>
      <p:sp>
        <p:nvSpPr>
          <p:cNvPr id="4" name="Text 2"/>
          <p:cNvSpPr/>
          <p:nvPr/>
        </p:nvSpPr>
        <p:spPr>
          <a:xfrm>
            <a:off x="365760" y="3017520"/>
            <a:ext cx="4572000" cy="10972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We appreciate your time and attention.</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Thank you for evaluating our work on</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Airline Flight Delay Analysis using</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Machine Learning.</a:t>
            </a:r>
            <a:endParaRPr lang="en-US" sz="1200" dirty="0"/>
          </a:p>
        </p:txBody>
      </p:sp>
      <p:sp>
        <p:nvSpPr>
          <p:cNvPr id="5" name="Text 3"/>
          <p:cNvSpPr/>
          <p:nvPr/>
        </p:nvSpPr>
        <p:spPr>
          <a:xfrm>
            <a:off x="365760" y="4206240"/>
            <a:ext cx="4572000" cy="54864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Dataset: US DOT Bureau of Transportation Statistics</a:t>
            </a:r>
            <a:endParaRPr lang="en-US" sz="1000" dirty="0"/>
          </a:p>
          <a:p>
            <a:pPr marL="0" indent="0">
              <a:buNone/>
            </a:pPr>
            <a:r>
              <a:rPr lang="en-US" sz="1000" dirty="0">
                <a:solidFill>
                  <a:srgbClr val="8892B0"/>
                </a:solidFill>
                <a:latin typeface="Calibri" pitchFamily="34" charset="0"/>
                <a:ea typeface="Calibri" pitchFamily="34" charset="-122"/>
                <a:cs typeface="Calibri" pitchFamily="34" charset="-120"/>
              </a:rPr>
              <a:t>https://www.transtats.bts.gov</a:t>
            </a:r>
            <a:endParaRPr lang="en-US" sz="1000" dirty="0"/>
          </a:p>
        </p:txBody>
      </p:sp>
      <p:sp>
        <p:nvSpPr>
          <p:cNvPr id="6" name="Shape 4"/>
          <p:cNvSpPr/>
          <p:nvPr/>
        </p:nvSpPr>
        <p:spPr>
          <a:xfrm>
            <a:off x="5212080" y="365760"/>
            <a:ext cx="3703320" cy="4572000"/>
          </a:xfrm>
          <a:prstGeom prst="roundRect">
            <a:avLst>
              <a:gd name="adj" fmla="val 2963"/>
            </a:avLst>
          </a:prstGeom>
          <a:solidFill>
            <a:srgbClr val="1A2050"/>
          </a:solidFill>
          <a:ln w="12700">
            <a:solidFill>
              <a:srgbClr val="4361EE"/>
            </a:solidFill>
            <a:prstDash val="solid"/>
          </a:ln>
        </p:spPr>
      </p:sp>
      <p:sp>
        <p:nvSpPr>
          <p:cNvPr id="7" name="Text 5"/>
          <p:cNvSpPr/>
          <p:nvPr/>
        </p:nvSpPr>
        <p:spPr>
          <a:xfrm>
            <a:off x="5367528" y="457200"/>
            <a:ext cx="3383280" cy="320040"/>
          </a:xfrm>
          <a:prstGeom prst="rect">
            <a:avLst/>
          </a:prstGeom>
          <a:noFill/>
          <a:ln/>
        </p:spPr>
        <p:txBody>
          <a:bodyPr wrap="square" rtlCol="0" anchor="ctr"/>
          <a:lstStyle/>
          <a:p>
            <a:pPr marL="0" indent="0">
              <a:buNone/>
            </a:pPr>
            <a:r>
              <a:rPr lang="en-US" sz="1100" b="1" dirty="0">
                <a:solidFill>
                  <a:srgbClr val="00D4FF"/>
                </a:solidFill>
                <a:latin typeface="Arial" pitchFamily="34" charset="0"/>
                <a:ea typeface="Arial" pitchFamily="34" charset="-122"/>
                <a:cs typeface="Arial" pitchFamily="34" charset="-120"/>
              </a:rPr>
              <a:t>KEY LEARNINGS</a:t>
            </a:r>
            <a:endParaRPr lang="en-US" sz="1100" dirty="0"/>
          </a:p>
        </p:txBody>
      </p:sp>
      <p:sp>
        <p:nvSpPr>
          <p:cNvPr id="8" name="Text 6"/>
          <p:cNvSpPr/>
          <p:nvPr/>
        </p:nvSpPr>
        <p:spPr>
          <a:xfrm>
            <a:off x="5367528" y="841248"/>
            <a:ext cx="3383280" cy="384048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Data Collection and Preprocessing</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IQR-based Outlier Removal</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Correlation-Based Feature Selection</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Train/Test Split Strategy</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Linear Regression Implementation</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MAE, MSE, R² Evaluation Metrics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Feature Importance Analysis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Data Visualization Techniques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End-to-End ML Pipeline for Flight Delay</a:t>
            </a:r>
            <a:endParaRPr lang="en-US" sz="950" dirty="0"/>
          </a:p>
        </p:txBody>
      </p:sp>
      <p:sp>
        <p:nvSpPr>
          <p:cNvPr id="9" name="Shape 7"/>
          <p:cNvSpPr/>
          <p:nvPr/>
        </p:nvSpPr>
        <p:spPr>
          <a:xfrm>
            <a:off x="228600" y="4800600"/>
            <a:ext cx="8686800" cy="201168"/>
          </a:xfrm>
          <a:prstGeom prst="roundRect">
            <a:avLst/>
          </a:prstGeom>
          <a:solidFill>
            <a:srgbClr val="4361EE">
              <a:alpha val="50000"/>
            </a:srgbClr>
          </a:solidFill>
          <a:ln w="12700">
            <a:solidFill>
              <a:srgbClr val="000000"/>
            </a:solidFill>
            <a:prstDash val="solid"/>
          </a:ln>
        </p:spPr>
      </p:sp>
      <p:sp>
        <p:nvSpPr>
          <p:cNvPr id="10" name="Text 8"/>
          <p:cNvSpPr/>
          <p:nvPr/>
        </p:nvSpPr>
        <p:spPr>
          <a:xfrm>
            <a:off x="320040" y="4809744"/>
            <a:ext cx="8503920" cy="1828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This project demonstrates Linear Regression's effectiveness in predicting flight delays using key operational features.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924</Words>
  <Application>Microsoft Office PowerPoint</Application>
  <PresentationFormat>On-screen Show (16:9)</PresentationFormat>
  <Paragraphs>193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Data Analysis</dc:title>
  <dc:subject>PptxGenJS Presentation</dc:subject>
  <dc:creator>PptxGenJS</dc:creator>
  <cp:lastModifiedBy>Bhavya Sree Kandur</cp:lastModifiedBy>
  <cp:revision>2</cp:revision>
  <dcterms:created xsi:type="dcterms:W3CDTF">2026-06-27T04:29:38Z</dcterms:created>
  <dcterms:modified xsi:type="dcterms:W3CDTF">2026-06-27T04:34:15Z</dcterms:modified>
</cp:coreProperties>
</file>